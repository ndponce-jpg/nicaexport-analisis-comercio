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ontserrat Bold" charset="1" panose="00000800000000000000"/>
      <p:regular r:id="rId18"/>
    </p:embeddedFont>
    <p:embeddedFont>
      <p:font typeface="Montserrat" charset="1" panose="00000500000000000000"/>
      <p:regular r:id="rId19"/>
    </p:embeddedFont>
    <p:embeddedFont>
      <p:font typeface="Montserrat Ultra-Bold" charset="1" panose="000009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embeddings/oleObject1.bin" Type="http://schemas.openxmlformats.org/officeDocument/2006/relationships/oleObject"/><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png" Type="http://schemas.openxmlformats.org/officeDocument/2006/relationships/image"/><Relationship Id="rId4" Target="../embeddings/oleObject2.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jpe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33333"/>
            </a:stretch>
          </a:blipFill>
        </p:spPr>
      </p:sp>
      <p:sp>
        <p:nvSpPr>
          <p:cNvPr name="Freeform 3" id="3"/>
          <p:cNvSpPr/>
          <p:nvPr/>
        </p:nvSpPr>
        <p:spPr>
          <a:xfrm flipH="false" flipV="false" rot="0">
            <a:off x="14918699" y="1028700"/>
            <a:ext cx="2340601" cy="984589"/>
          </a:xfrm>
          <a:custGeom>
            <a:avLst/>
            <a:gdLst/>
            <a:ahLst/>
            <a:cxnLst/>
            <a:rect r="r" b="b" t="t" l="l"/>
            <a:pathLst>
              <a:path h="984589" w="2340601">
                <a:moveTo>
                  <a:pt x="0" y="0"/>
                </a:moveTo>
                <a:lnTo>
                  <a:pt x="2340601" y="0"/>
                </a:lnTo>
                <a:lnTo>
                  <a:pt x="2340601" y="984589"/>
                </a:lnTo>
                <a:lnTo>
                  <a:pt x="0" y="984589"/>
                </a:lnTo>
                <a:lnTo>
                  <a:pt x="0" y="0"/>
                </a:lnTo>
                <a:close/>
              </a:path>
            </a:pathLst>
          </a:custGeom>
          <a:blipFill>
            <a:blip r:embed="rId3"/>
            <a:stretch>
              <a:fillRect l="0" t="-242412" r="0" b="0"/>
            </a:stretch>
          </a:blipFill>
        </p:spPr>
      </p:sp>
      <p:sp>
        <p:nvSpPr>
          <p:cNvPr name="TextBox 4" id="4"/>
          <p:cNvSpPr txBox="true"/>
          <p:nvPr/>
        </p:nvSpPr>
        <p:spPr>
          <a:xfrm rot="0">
            <a:off x="1296407" y="3274155"/>
            <a:ext cx="11552530" cy="3030074"/>
          </a:xfrm>
          <a:prstGeom prst="rect">
            <a:avLst/>
          </a:prstGeom>
        </p:spPr>
        <p:txBody>
          <a:bodyPr anchor="t" rtlCol="false" tIns="0" lIns="0" bIns="0" rIns="0">
            <a:spAutoFit/>
          </a:bodyPr>
          <a:lstStyle/>
          <a:p>
            <a:pPr algn="l" marL="0" indent="0" lvl="0">
              <a:lnSpc>
                <a:spcPts val="11947"/>
              </a:lnSpc>
            </a:pPr>
            <a:r>
              <a:rPr lang="en-US" b="true" sz="9956">
                <a:solidFill>
                  <a:srgbClr val="04264A"/>
                </a:solidFill>
                <a:latin typeface="Montserrat Bold"/>
                <a:ea typeface="Montserrat Bold"/>
                <a:cs typeface="Montserrat Bold"/>
                <a:sym typeface="Montserrat Bold"/>
              </a:rPr>
              <a:t>NICAEXPORT TRADING, S.A.</a:t>
            </a:r>
          </a:p>
        </p:txBody>
      </p:sp>
      <p:sp>
        <p:nvSpPr>
          <p:cNvPr name="TextBox 5" id="5"/>
          <p:cNvSpPr txBox="true"/>
          <p:nvPr/>
        </p:nvSpPr>
        <p:spPr>
          <a:xfrm rot="0">
            <a:off x="1028700" y="1958793"/>
            <a:ext cx="10253885" cy="945932"/>
          </a:xfrm>
          <a:prstGeom prst="rect">
            <a:avLst/>
          </a:prstGeom>
        </p:spPr>
        <p:txBody>
          <a:bodyPr anchor="t" rtlCol="false" tIns="0" lIns="0" bIns="0" rIns="0">
            <a:spAutoFit/>
          </a:bodyPr>
          <a:lstStyle/>
          <a:p>
            <a:pPr algn="l" marL="0" indent="0" lvl="0">
              <a:lnSpc>
                <a:spcPts val="7465"/>
              </a:lnSpc>
            </a:pPr>
            <a:r>
              <a:rPr lang="en-US" sz="6221" spc="186">
                <a:solidFill>
                  <a:srgbClr val="FFFFFF"/>
                </a:solidFill>
                <a:latin typeface="Montserrat"/>
                <a:ea typeface="Montserrat"/>
                <a:cs typeface="Montserrat"/>
                <a:sym typeface="Montserrat"/>
              </a:rPr>
              <a:t>LA GERENCIA DE</a:t>
            </a:r>
          </a:p>
        </p:txBody>
      </p:sp>
      <p:sp>
        <p:nvSpPr>
          <p:cNvPr name="TextBox 6" id="6"/>
          <p:cNvSpPr txBox="true"/>
          <p:nvPr/>
        </p:nvSpPr>
        <p:spPr>
          <a:xfrm rot="0">
            <a:off x="1028700" y="7438683"/>
            <a:ext cx="14129544" cy="2106483"/>
          </a:xfrm>
          <a:prstGeom prst="rect">
            <a:avLst/>
          </a:prstGeom>
        </p:spPr>
        <p:txBody>
          <a:bodyPr anchor="t" rtlCol="false" tIns="0" lIns="0" bIns="0" rIns="0">
            <a:spAutoFit/>
          </a:bodyPr>
          <a:lstStyle/>
          <a:p>
            <a:pPr algn="l">
              <a:lnSpc>
                <a:spcPts val="4153"/>
              </a:lnSpc>
            </a:pPr>
            <a:r>
              <a:rPr lang="en-US" sz="3460" b="true">
                <a:solidFill>
                  <a:srgbClr val="04264A"/>
                </a:solidFill>
                <a:latin typeface="Montserrat Bold"/>
                <a:ea typeface="Montserrat Bold"/>
                <a:cs typeface="Montserrat Bold"/>
                <a:sym typeface="Montserrat Bold"/>
              </a:rPr>
              <a:t>ANÁLISIS DE OPERACIONES DE COMERCIO INTERNACIONAL</a:t>
            </a:r>
          </a:p>
          <a:p>
            <a:pPr algn="l">
              <a:lnSpc>
                <a:spcPts val="4153"/>
              </a:lnSpc>
            </a:pPr>
            <a:r>
              <a:rPr lang="en-US" sz="3460" b="true">
                <a:solidFill>
                  <a:srgbClr val="04264A"/>
                </a:solidFill>
                <a:latin typeface="Montserrat Bold"/>
                <a:ea typeface="Montserrat Bold"/>
                <a:cs typeface="Montserrat Bold"/>
                <a:sym typeface="Montserrat Bold"/>
              </a:rPr>
              <a:t>GESTIÓN Y ANÁLISIS DE OPERACIONES DE COMERCIO INTERNACIONAL</a:t>
            </a:r>
          </a:p>
          <a:p>
            <a:pPr algn="l" marL="0" indent="0" lvl="0">
              <a:lnSpc>
                <a:spcPts val="4153"/>
              </a:lnSpc>
            </a:pPr>
          </a:p>
        </p:txBody>
      </p:sp>
      <p:sp>
        <p:nvSpPr>
          <p:cNvPr name="TextBox 7" id="7"/>
          <p:cNvSpPr txBox="true"/>
          <p:nvPr/>
        </p:nvSpPr>
        <p:spPr>
          <a:xfrm rot="0">
            <a:off x="1028700" y="990600"/>
            <a:ext cx="6243396" cy="306705"/>
          </a:xfrm>
          <a:prstGeom prst="rect">
            <a:avLst/>
          </a:prstGeom>
        </p:spPr>
        <p:txBody>
          <a:bodyPr anchor="t" rtlCol="false" tIns="0" lIns="0" bIns="0" rIns="0">
            <a:spAutoFit/>
          </a:bodyPr>
          <a:lstStyle/>
          <a:p>
            <a:pPr algn="l" marL="0" indent="0" lvl="0">
              <a:lnSpc>
                <a:spcPts val="2520"/>
              </a:lnSpc>
            </a:pPr>
            <a:r>
              <a:rPr lang="en-US" b="true" sz="1800">
                <a:solidFill>
                  <a:srgbClr val="FFFFFF"/>
                </a:solidFill>
                <a:latin typeface="Montserrat Bold"/>
                <a:ea typeface="Montserrat Bold"/>
                <a:cs typeface="Montserrat Bold"/>
                <a:sym typeface="Montserrat Bold"/>
              </a:rPr>
              <a:t>Tecnologías de Gestión de Información  </a:t>
            </a:r>
          </a:p>
        </p:txBody>
      </p:sp>
      <p:sp>
        <p:nvSpPr>
          <p:cNvPr name="TextBox 8" id="8"/>
          <p:cNvSpPr txBox="true"/>
          <p:nvPr/>
        </p:nvSpPr>
        <p:spPr>
          <a:xfrm rot="0">
            <a:off x="829277" y="8429789"/>
            <a:ext cx="6243396" cy="1249680"/>
          </a:xfrm>
          <a:prstGeom prst="rect">
            <a:avLst/>
          </a:prstGeom>
        </p:spPr>
        <p:txBody>
          <a:bodyPr anchor="t" rtlCol="false" tIns="0" lIns="0" bIns="0" rIns="0">
            <a:spAutoFit/>
          </a:bodyPr>
          <a:lstStyle/>
          <a:p>
            <a:pPr algn="l">
              <a:lnSpc>
                <a:spcPts val="2520"/>
              </a:lnSpc>
            </a:pPr>
          </a:p>
          <a:p>
            <a:pPr algn="l">
              <a:lnSpc>
                <a:spcPts val="2520"/>
              </a:lnSpc>
            </a:pPr>
          </a:p>
          <a:p>
            <a:pPr algn="l">
              <a:lnSpc>
                <a:spcPts val="2520"/>
              </a:lnSpc>
            </a:pPr>
          </a:p>
          <a:p>
            <a:pPr algn="l" marL="0" indent="0" lvl="0">
              <a:lnSpc>
                <a:spcPts val="2520"/>
              </a:lnSpc>
            </a:pPr>
            <a:r>
              <a:rPr lang="en-US" b="true" sz="1800">
                <a:solidFill>
                  <a:srgbClr val="FFFFFF"/>
                </a:solidFill>
                <a:latin typeface="Montserrat Bold"/>
                <a:ea typeface="Montserrat Bold"/>
                <a:cs typeface="Montserrat Bold"/>
                <a:sym typeface="Montserrat Bold"/>
              </a:rPr>
              <a:t>Docente Carlos Antonio Leal Saballos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6656" y="-237924"/>
            <a:ext cx="18787318" cy="3889809"/>
            <a:chOff x="0" y="0"/>
            <a:chExt cx="2910647" cy="602633"/>
          </a:xfrm>
        </p:grpSpPr>
        <p:sp>
          <p:nvSpPr>
            <p:cNvPr name="Freeform 3" id="3"/>
            <p:cNvSpPr/>
            <p:nvPr/>
          </p:nvSpPr>
          <p:spPr>
            <a:xfrm flipH="false" flipV="false" rot="0">
              <a:off x="0" y="0"/>
              <a:ext cx="2910647" cy="602633"/>
            </a:xfrm>
            <a:custGeom>
              <a:avLst/>
              <a:gdLst/>
              <a:ahLst/>
              <a:cxnLst/>
              <a:rect r="r" b="b" t="t" l="l"/>
              <a:pathLst>
                <a:path h="602633" w="2910647">
                  <a:moveTo>
                    <a:pt x="0" y="0"/>
                  </a:moveTo>
                  <a:lnTo>
                    <a:pt x="2910647" y="0"/>
                  </a:lnTo>
                  <a:lnTo>
                    <a:pt x="2910647" y="602633"/>
                  </a:lnTo>
                  <a:lnTo>
                    <a:pt x="0" y="602633"/>
                  </a:lnTo>
                  <a:close/>
                </a:path>
              </a:pathLst>
            </a:custGeom>
            <a:blipFill>
              <a:blip r:embed="rId2"/>
              <a:stretch>
                <a:fillRect l="0" t="-110895" r="0" b="-110895"/>
              </a:stretch>
            </a:blipFill>
          </p:spPr>
        </p:sp>
      </p:grpSp>
      <p:sp>
        <p:nvSpPr>
          <p:cNvPr name="TextBox 4" id="4"/>
          <p:cNvSpPr txBox="true"/>
          <p:nvPr/>
        </p:nvSpPr>
        <p:spPr>
          <a:xfrm rot="0">
            <a:off x="2187288" y="6037984"/>
            <a:ext cx="7675722" cy="669925"/>
          </a:xfrm>
          <a:prstGeom prst="rect">
            <a:avLst/>
          </a:prstGeom>
        </p:spPr>
        <p:txBody>
          <a:bodyPr anchor="t" rtlCol="false" tIns="0" lIns="0" bIns="0" rIns="0">
            <a:spAutoFit/>
          </a:bodyPr>
          <a:lstStyle/>
          <a:p>
            <a:pPr algn="l" marL="0" indent="0" lvl="0">
              <a:lnSpc>
                <a:spcPts val="5599"/>
              </a:lnSpc>
            </a:pPr>
            <a:r>
              <a:rPr lang="en-US" sz="3999">
                <a:solidFill>
                  <a:srgbClr val="04264A"/>
                </a:solidFill>
                <a:latin typeface="Montserrat"/>
                <a:ea typeface="Montserrat"/>
                <a:cs typeface="Montserrat"/>
                <a:sym typeface="Montserrat"/>
              </a:rPr>
              <a:t>Francesca Abril Logo Muñoz</a:t>
            </a:r>
          </a:p>
        </p:txBody>
      </p:sp>
      <p:sp>
        <p:nvSpPr>
          <p:cNvPr name="TextBox 5" id="5"/>
          <p:cNvSpPr txBox="true"/>
          <p:nvPr/>
        </p:nvSpPr>
        <p:spPr>
          <a:xfrm rot="0">
            <a:off x="2187288" y="7596640"/>
            <a:ext cx="9543369" cy="669925"/>
          </a:xfrm>
          <a:prstGeom prst="rect">
            <a:avLst/>
          </a:prstGeom>
        </p:spPr>
        <p:txBody>
          <a:bodyPr anchor="t" rtlCol="false" tIns="0" lIns="0" bIns="0" rIns="0">
            <a:spAutoFit/>
          </a:bodyPr>
          <a:lstStyle/>
          <a:p>
            <a:pPr algn="l" marL="0" indent="0" lvl="0">
              <a:lnSpc>
                <a:spcPts val="5599"/>
              </a:lnSpc>
            </a:pPr>
            <a:r>
              <a:rPr lang="en-US" sz="3999">
                <a:solidFill>
                  <a:srgbClr val="04264A"/>
                </a:solidFill>
                <a:latin typeface="Montserrat"/>
                <a:ea typeface="Montserrat"/>
                <a:cs typeface="Montserrat"/>
                <a:sym typeface="Montserrat"/>
              </a:rPr>
              <a:t>Nathalia Dessire Ponce Rodríguez</a:t>
            </a:r>
          </a:p>
        </p:txBody>
      </p:sp>
      <p:sp>
        <p:nvSpPr>
          <p:cNvPr name="TextBox 6" id="6"/>
          <p:cNvSpPr txBox="true"/>
          <p:nvPr/>
        </p:nvSpPr>
        <p:spPr>
          <a:xfrm rot="0">
            <a:off x="1453723" y="1877973"/>
            <a:ext cx="6802276" cy="914400"/>
          </a:xfrm>
          <a:prstGeom prst="rect">
            <a:avLst/>
          </a:prstGeom>
        </p:spPr>
        <p:txBody>
          <a:bodyPr anchor="t" rtlCol="false" tIns="0" lIns="0" bIns="0" rIns="0">
            <a:spAutoFit/>
          </a:bodyPr>
          <a:lstStyle/>
          <a:p>
            <a:pPr algn="l" marL="0" indent="0" lvl="0">
              <a:lnSpc>
                <a:spcPts val="7200"/>
              </a:lnSpc>
              <a:spcBef>
                <a:spcPct val="0"/>
              </a:spcBef>
            </a:pPr>
            <a:r>
              <a:rPr lang="en-US" b="true" sz="6000" spc="179">
                <a:solidFill>
                  <a:srgbClr val="04264A"/>
                </a:solidFill>
                <a:latin typeface="Montserrat Bold"/>
                <a:ea typeface="Montserrat Bold"/>
                <a:cs typeface="Montserrat Bold"/>
                <a:sym typeface="Montserrat Bold"/>
              </a:rPr>
              <a:t>INTEGRANTES </a:t>
            </a:r>
          </a:p>
        </p:txBody>
      </p:sp>
      <p:sp>
        <p:nvSpPr>
          <p:cNvPr name="TextBox 7" id="7"/>
          <p:cNvSpPr txBox="true"/>
          <p:nvPr/>
        </p:nvSpPr>
        <p:spPr>
          <a:xfrm rot="0">
            <a:off x="1323334" y="6162400"/>
            <a:ext cx="623601" cy="592543"/>
          </a:xfrm>
          <a:prstGeom prst="rect">
            <a:avLst/>
          </a:prstGeom>
        </p:spPr>
        <p:txBody>
          <a:bodyPr anchor="t" rtlCol="false" tIns="0" lIns="0" bIns="0" rIns="0">
            <a:spAutoFit/>
          </a:bodyPr>
          <a:lstStyle/>
          <a:p>
            <a:pPr algn="l" marL="0" indent="0" lvl="0">
              <a:lnSpc>
                <a:spcPts val="4494"/>
              </a:lnSpc>
              <a:spcBef>
                <a:spcPct val="0"/>
              </a:spcBef>
            </a:pPr>
            <a:r>
              <a:rPr lang="en-US" b="true" sz="4633" u="none">
                <a:solidFill>
                  <a:srgbClr val="FFFFFF"/>
                </a:solidFill>
                <a:latin typeface="Montserrat Ultra-Bold"/>
                <a:ea typeface="Montserrat Ultra-Bold"/>
                <a:cs typeface="Montserrat Ultra-Bold"/>
                <a:sym typeface="Montserrat Ultra-Bold"/>
              </a:rPr>
              <a:t>1 </a:t>
            </a:r>
          </a:p>
        </p:txBody>
      </p:sp>
      <p:sp>
        <p:nvSpPr>
          <p:cNvPr name="TextBox 8" id="8"/>
          <p:cNvSpPr txBox="true"/>
          <p:nvPr/>
        </p:nvSpPr>
        <p:spPr>
          <a:xfrm rot="0">
            <a:off x="1323334" y="7768090"/>
            <a:ext cx="623601" cy="592556"/>
          </a:xfrm>
          <a:prstGeom prst="rect">
            <a:avLst/>
          </a:prstGeom>
        </p:spPr>
        <p:txBody>
          <a:bodyPr anchor="t" rtlCol="false" tIns="0" lIns="0" bIns="0" rIns="0">
            <a:spAutoFit/>
          </a:bodyPr>
          <a:lstStyle/>
          <a:p>
            <a:pPr algn="l" marL="0" indent="0" lvl="0">
              <a:lnSpc>
                <a:spcPts val="4494"/>
              </a:lnSpc>
              <a:spcBef>
                <a:spcPct val="0"/>
              </a:spcBef>
            </a:pPr>
            <a:r>
              <a:rPr lang="en-US" b="true" sz="4633">
                <a:solidFill>
                  <a:srgbClr val="FFFFFF"/>
                </a:solidFill>
                <a:latin typeface="Montserrat Ultra-Bold"/>
                <a:ea typeface="Montserrat Ultra-Bold"/>
                <a:cs typeface="Montserrat Ultra-Bold"/>
                <a:sym typeface="Montserrat Ultra-Bold"/>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141379" y="5028316"/>
            <a:ext cx="10255708" cy="4229984"/>
            <a:chOff x="0" y="0"/>
            <a:chExt cx="13674277" cy="5639979"/>
          </a:xfrm>
        </p:grpSpPr>
        <p:grpSp>
          <p:nvGrpSpPr>
            <p:cNvPr name="Group 4" id="4"/>
            <p:cNvGrpSpPr/>
            <p:nvPr/>
          </p:nvGrpSpPr>
          <p:grpSpPr>
            <a:xfrm rot="0">
              <a:off x="0" y="0"/>
              <a:ext cx="13674277" cy="5639979"/>
              <a:chOff x="0" y="0"/>
              <a:chExt cx="2701092" cy="1114070"/>
            </a:xfrm>
          </p:grpSpPr>
          <p:sp>
            <p:nvSpPr>
              <p:cNvPr name="Freeform 5" id="5"/>
              <p:cNvSpPr/>
              <p:nvPr/>
            </p:nvSpPr>
            <p:spPr>
              <a:xfrm flipH="false" flipV="false" rot="0">
                <a:off x="0" y="0"/>
                <a:ext cx="2701092" cy="1114070"/>
              </a:xfrm>
              <a:custGeom>
                <a:avLst/>
                <a:gdLst/>
                <a:ahLst/>
                <a:cxnLst/>
                <a:rect r="r" b="b" t="t" l="l"/>
                <a:pathLst>
                  <a:path h="1114070" w="2701092">
                    <a:moveTo>
                      <a:pt x="0" y="0"/>
                    </a:moveTo>
                    <a:lnTo>
                      <a:pt x="2701092" y="0"/>
                    </a:lnTo>
                    <a:lnTo>
                      <a:pt x="2701092" y="1114070"/>
                    </a:lnTo>
                    <a:lnTo>
                      <a:pt x="0" y="1114070"/>
                    </a:lnTo>
                    <a:close/>
                  </a:path>
                </a:pathLst>
              </a:custGeom>
              <a:solidFill>
                <a:srgbClr val="FFFFFF"/>
              </a:solidFill>
            </p:spPr>
          </p:sp>
          <p:sp>
            <p:nvSpPr>
              <p:cNvPr name="TextBox 6" id="6"/>
              <p:cNvSpPr txBox="true"/>
              <p:nvPr/>
            </p:nvSpPr>
            <p:spPr>
              <a:xfrm>
                <a:off x="0" y="0"/>
                <a:ext cx="2701092" cy="1114070"/>
              </a:xfrm>
              <a:prstGeom prst="rect">
                <a:avLst/>
              </a:prstGeom>
            </p:spPr>
            <p:txBody>
              <a:bodyPr anchor="ctr" rtlCol="false" tIns="50800" lIns="50800" bIns="50800" rIns="50800"/>
              <a:lstStyle/>
              <a:p>
                <a:pPr algn="ctr">
                  <a:lnSpc>
                    <a:spcPts val="2196"/>
                  </a:lnSpc>
                </a:pPr>
              </a:p>
            </p:txBody>
          </p:sp>
        </p:grpSp>
        <p:sp>
          <p:nvSpPr>
            <p:cNvPr name="TextBox 7" id="7"/>
            <p:cNvSpPr txBox="true"/>
            <p:nvPr/>
          </p:nvSpPr>
          <p:spPr>
            <a:xfrm rot="0">
              <a:off x="851773" y="797387"/>
              <a:ext cx="12220782" cy="4045204"/>
            </a:xfrm>
            <a:prstGeom prst="rect">
              <a:avLst/>
            </a:prstGeom>
          </p:spPr>
          <p:txBody>
            <a:bodyPr anchor="t" rtlCol="false" tIns="0" lIns="0" bIns="0" rIns="0">
              <a:spAutoFit/>
            </a:bodyPr>
            <a:lstStyle/>
            <a:p>
              <a:pPr algn="l">
                <a:lnSpc>
                  <a:spcPts val="2196"/>
                </a:lnSpc>
              </a:pPr>
              <a:r>
                <a:rPr lang="en-US" sz="1800" b="true">
                  <a:solidFill>
                    <a:srgbClr val="04264A"/>
                  </a:solidFill>
                  <a:latin typeface="Montserrat Bold"/>
                  <a:ea typeface="Montserrat Bold"/>
                  <a:cs typeface="Montserrat Bold"/>
                  <a:sym typeface="Montserrat Bold"/>
                </a:rPr>
                <a:t>NicaExport Trading, S.A. </a:t>
              </a:r>
              <a:r>
                <a:rPr lang="en-US" sz="1800">
                  <a:solidFill>
                    <a:srgbClr val="04264A"/>
                  </a:solidFill>
                  <a:latin typeface="Montserrat"/>
                  <a:ea typeface="Montserrat"/>
                  <a:cs typeface="Montserrat"/>
                  <a:sym typeface="Montserrat"/>
                </a:rPr>
                <a:t>es una empresa nicaragüense dedicada a la exportación de productos agroindustriales hacia mercados internacionales. La gerencia necesita analizar sus operaciones para identificar los mercados más importantes, los productos con mayor demanda, las operaciones que generan mayor utilidad, los clientes con mayores compras y aquellas operaciones que requieren atención. Guía Práctica Nica Export Trading S.A.pdf</a:t>
              </a:r>
            </a:p>
            <a:p>
              <a:pPr algn="l">
                <a:lnSpc>
                  <a:spcPts val="2196"/>
                </a:lnSpc>
              </a:pPr>
            </a:p>
            <a:p>
              <a:pPr algn="l">
                <a:lnSpc>
                  <a:spcPts val="2196"/>
                </a:lnSpc>
              </a:pPr>
              <a:r>
                <a:rPr lang="en-US" sz="1800" b="true">
                  <a:solidFill>
                    <a:srgbClr val="04264A"/>
                  </a:solidFill>
                  <a:latin typeface="Montserrat Bold"/>
                  <a:ea typeface="Montserrat Bold"/>
                  <a:cs typeface="Montserrat Bold"/>
                  <a:sym typeface="Montserrat Bold"/>
                </a:rPr>
                <a:t>Objetivo</a:t>
              </a:r>
            </a:p>
            <a:p>
              <a:pPr algn="l" marL="0" indent="0" lvl="0">
                <a:lnSpc>
                  <a:spcPts val="2196"/>
                </a:lnSpc>
                <a:spcBef>
                  <a:spcPct val="0"/>
                </a:spcBef>
              </a:pPr>
              <a:r>
                <a:rPr lang="en-US" sz="1800">
                  <a:solidFill>
                    <a:srgbClr val="04264A"/>
                  </a:solidFill>
                  <a:latin typeface="Montserrat"/>
                  <a:ea typeface="Montserrat"/>
                  <a:cs typeface="Montserrat"/>
                  <a:sym typeface="Montserrat"/>
                </a:rPr>
                <a:t>Convertir los datos registrados en Excel en información útil para apoyar la toma de decisiones comerciales.</a:t>
              </a:r>
            </a:p>
            <a:p>
              <a:pPr algn="l" marL="0" indent="0" lvl="0">
                <a:lnSpc>
                  <a:spcPts val="2196"/>
                </a:lnSpc>
                <a:spcBef>
                  <a:spcPct val="0"/>
                </a:spcBef>
              </a:pPr>
            </a:p>
          </p:txBody>
        </p:sp>
      </p:grpSp>
      <p:sp>
        <p:nvSpPr>
          <p:cNvPr name="TextBox 8" id="8"/>
          <p:cNvSpPr txBox="true"/>
          <p:nvPr/>
        </p:nvSpPr>
        <p:spPr>
          <a:xfrm rot="0">
            <a:off x="1444731" y="3504236"/>
            <a:ext cx="6802276" cy="914400"/>
          </a:xfrm>
          <a:prstGeom prst="rect">
            <a:avLst/>
          </a:prstGeom>
        </p:spPr>
        <p:txBody>
          <a:bodyPr anchor="t" rtlCol="false" tIns="0" lIns="0" bIns="0" rIns="0">
            <a:spAutoFit/>
          </a:bodyPr>
          <a:lstStyle/>
          <a:p>
            <a:pPr algn="l" marL="0" indent="0" lvl="0">
              <a:lnSpc>
                <a:spcPts val="7200"/>
              </a:lnSpc>
              <a:spcBef>
                <a:spcPct val="0"/>
              </a:spcBef>
            </a:pPr>
            <a:r>
              <a:rPr lang="en-US" b="true" sz="6000" spc="179">
                <a:solidFill>
                  <a:srgbClr val="04264A"/>
                </a:solidFill>
                <a:latin typeface="Montserrat Bold"/>
                <a:ea typeface="Montserrat Bold"/>
                <a:cs typeface="Montserrat Bold"/>
                <a:sym typeface="Montserrat Bold"/>
              </a:rPr>
              <a:t>SITUACION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393910" y="735625"/>
            <a:ext cx="1150888" cy="1026897"/>
            <a:chOff x="0" y="0"/>
            <a:chExt cx="303114" cy="270459"/>
          </a:xfrm>
        </p:grpSpPr>
        <p:sp>
          <p:nvSpPr>
            <p:cNvPr name="Freeform 3" id="3"/>
            <p:cNvSpPr/>
            <p:nvPr/>
          </p:nvSpPr>
          <p:spPr>
            <a:xfrm flipH="false" flipV="false" rot="0">
              <a:off x="0" y="0"/>
              <a:ext cx="303114" cy="270459"/>
            </a:xfrm>
            <a:custGeom>
              <a:avLst/>
              <a:gdLst/>
              <a:ahLst/>
              <a:cxnLst/>
              <a:rect r="r" b="b" t="t" l="l"/>
              <a:pathLst>
                <a:path h="270459" w="303114">
                  <a:moveTo>
                    <a:pt x="0" y="0"/>
                  </a:moveTo>
                  <a:lnTo>
                    <a:pt x="303114" y="0"/>
                  </a:lnTo>
                  <a:lnTo>
                    <a:pt x="303114" y="270459"/>
                  </a:lnTo>
                  <a:lnTo>
                    <a:pt x="0" y="270459"/>
                  </a:lnTo>
                  <a:close/>
                </a:path>
              </a:pathLst>
            </a:custGeom>
            <a:solidFill>
              <a:srgbClr val="04264A"/>
            </a:solidFill>
          </p:spPr>
        </p:sp>
        <p:sp>
          <p:nvSpPr>
            <p:cNvPr name="TextBox 4" id="4"/>
            <p:cNvSpPr txBox="true"/>
            <p:nvPr/>
          </p:nvSpPr>
          <p:spPr>
            <a:xfrm>
              <a:off x="0" y="0"/>
              <a:ext cx="303114" cy="270459"/>
            </a:xfrm>
            <a:prstGeom prst="rect">
              <a:avLst/>
            </a:prstGeom>
          </p:spPr>
          <p:txBody>
            <a:bodyPr anchor="ctr" rtlCol="false" tIns="50800" lIns="50800" bIns="50800" rIns="50800"/>
            <a:lstStyle/>
            <a:p>
              <a:pPr algn="ctr">
                <a:lnSpc>
                  <a:spcPts val="2196"/>
                </a:lnSpc>
              </a:pPr>
            </a:p>
          </p:txBody>
        </p:sp>
      </p:grpSp>
      <p:sp>
        <p:nvSpPr>
          <p:cNvPr name="Freeform 5" id="5"/>
          <p:cNvSpPr/>
          <p:nvPr/>
        </p:nvSpPr>
        <p:spPr>
          <a:xfrm flipH="false" flipV="false" rot="0">
            <a:off x="8560559" y="953255"/>
            <a:ext cx="817590" cy="591638"/>
          </a:xfrm>
          <a:custGeom>
            <a:avLst/>
            <a:gdLst/>
            <a:ahLst/>
            <a:cxnLst/>
            <a:rect r="r" b="b" t="t" l="l"/>
            <a:pathLst>
              <a:path h="591638" w="817590">
                <a:moveTo>
                  <a:pt x="0" y="0"/>
                </a:moveTo>
                <a:lnTo>
                  <a:pt x="817590" y="0"/>
                </a:lnTo>
                <a:lnTo>
                  <a:pt x="817590" y="591638"/>
                </a:lnTo>
                <a:lnTo>
                  <a:pt x="0" y="591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560559" y="7931736"/>
            <a:ext cx="672115" cy="743789"/>
          </a:xfrm>
          <a:custGeom>
            <a:avLst/>
            <a:gdLst/>
            <a:ahLst/>
            <a:cxnLst/>
            <a:rect r="r" b="b" t="t" l="l"/>
            <a:pathLst>
              <a:path h="743789" w="672115">
                <a:moveTo>
                  <a:pt x="0" y="0"/>
                </a:moveTo>
                <a:lnTo>
                  <a:pt x="672115" y="0"/>
                </a:lnTo>
                <a:lnTo>
                  <a:pt x="672115" y="743790"/>
                </a:lnTo>
                <a:lnTo>
                  <a:pt x="0" y="743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86656" y="-237924"/>
            <a:ext cx="8083954" cy="10824632"/>
            <a:chOff x="0" y="0"/>
            <a:chExt cx="1252416" cy="1677019"/>
          </a:xfrm>
        </p:grpSpPr>
        <p:sp>
          <p:nvSpPr>
            <p:cNvPr name="Freeform 8" id="8"/>
            <p:cNvSpPr/>
            <p:nvPr/>
          </p:nvSpPr>
          <p:spPr>
            <a:xfrm flipH="false" flipV="false" rot="0">
              <a:off x="0" y="0"/>
              <a:ext cx="1252416" cy="1677019"/>
            </a:xfrm>
            <a:custGeom>
              <a:avLst/>
              <a:gdLst/>
              <a:ahLst/>
              <a:cxnLst/>
              <a:rect r="r" b="b" t="t" l="l"/>
              <a:pathLst>
                <a:path h="1677019" w="1252416">
                  <a:moveTo>
                    <a:pt x="0" y="0"/>
                  </a:moveTo>
                  <a:lnTo>
                    <a:pt x="1252416" y="0"/>
                  </a:lnTo>
                  <a:lnTo>
                    <a:pt x="1252416" y="1677019"/>
                  </a:lnTo>
                  <a:lnTo>
                    <a:pt x="0" y="1677019"/>
                  </a:lnTo>
                  <a:close/>
                </a:path>
              </a:pathLst>
            </a:custGeom>
            <a:blipFill>
              <a:blip r:embed="rId6"/>
              <a:stretch>
                <a:fillRect l="-16951" t="0" r="-16951" b="0"/>
              </a:stretch>
            </a:blipFill>
          </p:spPr>
        </p:sp>
      </p:grpSp>
      <p:graphicFrame>
        <p:nvGraphicFramePr>
          <p:cNvPr name="Table 9" id="9"/>
          <p:cNvGraphicFramePr>
            <a:graphicFrameLocks noGrp="true"/>
          </p:cNvGraphicFramePr>
          <p:nvPr/>
        </p:nvGraphicFramePr>
        <p:xfrm>
          <a:off x="8989006" y="4317781"/>
          <a:ext cx="8270294" cy="4552897"/>
        </p:xfrm>
        <a:graphic>
          <a:graphicData uri="http://schemas.openxmlformats.org/drawingml/2006/table">
            <a:tbl>
              <a:tblPr/>
              <a:tblGrid>
                <a:gridCol w="4250544"/>
                <a:gridCol w="4019751"/>
              </a:tblGrid>
              <a:tr h="854879">
                <a:tc>
                  <a:txBody>
                    <a:bodyPr anchor="t" rtlCol="false"/>
                    <a:lstStyle/>
                    <a:p>
                      <a:pPr algn="ctr">
                        <a:lnSpc>
                          <a:spcPts val="2936"/>
                        </a:lnSpc>
                        <a:defRPr/>
                      </a:pPr>
                      <a:r>
                        <a:rPr lang="en-US" sz="2097" b="true">
                          <a:solidFill>
                            <a:srgbClr val="FFFFFF"/>
                          </a:solidFill>
                          <a:latin typeface="Montserrat Bold"/>
                          <a:ea typeface="Montserrat Bold"/>
                          <a:cs typeface="Montserrat Bold"/>
                          <a:sym typeface="Montserrat Bold"/>
                        </a:rPr>
                        <a:t>Indicador</a:t>
                      </a:r>
                      <a:r>
                        <a:rPr lang="en-US" sz="2097">
                          <a:solidFill>
                            <a:srgbClr val="000000"/>
                          </a:solidFill>
                          <a:latin typeface="Montserrat"/>
                          <a:ea typeface="Montserrat"/>
                          <a:cs typeface="Montserrat"/>
                          <a:sym typeface="Montserrat"/>
                        </a:rPr>
                        <a: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04264A"/>
                    </a:solidFill>
                  </a:tcPr>
                </a:tc>
                <a:tc>
                  <a:txBody>
                    <a:bodyPr anchor="t" rtlCol="false"/>
                    <a:lstStyle/>
                    <a:p>
                      <a:pPr algn="ctr">
                        <a:lnSpc>
                          <a:spcPts val="2936"/>
                        </a:lnSpc>
                        <a:defRPr/>
                      </a:pPr>
                      <a:r>
                        <a:rPr lang="en-US" sz="2097" b="true">
                          <a:solidFill>
                            <a:srgbClr val="FFFFFF"/>
                          </a:solidFill>
                          <a:latin typeface="Montserrat Bold"/>
                          <a:ea typeface="Montserrat Bold"/>
                          <a:cs typeface="Montserrat Bold"/>
                          <a:sym typeface="Montserrat Bold"/>
                        </a:rPr>
                        <a:t>Resultado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04264A"/>
                    </a:solidFill>
                  </a:tcPr>
                </a:tc>
              </a:tr>
              <a:tr h="1229489">
                <a:tc>
                  <a:txBody>
                    <a:bodyPr anchor="t" rtlCol="false"/>
                    <a:lstStyle/>
                    <a:p>
                      <a:pPr algn="ctr">
                        <a:lnSpc>
                          <a:spcPts val="2936"/>
                        </a:lnSpc>
                        <a:defRPr/>
                      </a:pPr>
                      <a:r>
                        <a:rPr lang="en-US" sz="2097">
                          <a:solidFill>
                            <a:srgbClr val="000000"/>
                          </a:solidFill>
                          <a:latin typeface="Montserrat"/>
                          <a:ea typeface="Montserrat"/>
                          <a:cs typeface="Montserrat"/>
                          <a:sym typeface="Montserrat"/>
                        </a:rPr>
                        <a:t>Operaciones realizadas</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6"/>
                        </a:lnSpc>
                        <a:defRPr/>
                      </a:pPr>
                      <a:r>
                        <a:rPr lang="en-US" sz="2097" b="true">
                          <a:solidFill>
                            <a:srgbClr val="000000"/>
                          </a:solidFill>
                          <a:latin typeface="Montserrat Bold"/>
                          <a:ea typeface="Montserrat Bold"/>
                          <a:cs typeface="Montserrat Bold"/>
                          <a:sym typeface="Montserrat Bold"/>
                        </a:rPr>
                        <a:t>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39041">
                <a:tc>
                  <a:txBody>
                    <a:bodyPr anchor="t" rtlCol="false"/>
                    <a:lstStyle/>
                    <a:p>
                      <a:pPr algn="ctr">
                        <a:lnSpc>
                          <a:spcPts val="2936"/>
                        </a:lnSpc>
                        <a:defRPr/>
                      </a:pPr>
                      <a:r>
                        <a:rPr lang="en-US" sz="2097">
                          <a:solidFill>
                            <a:srgbClr val="000000"/>
                          </a:solidFill>
                          <a:latin typeface="Montserrat"/>
                          <a:ea typeface="Montserrat"/>
                          <a:cs typeface="Montserrat"/>
                          <a:sym typeface="Montserrat"/>
                        </a:rPr>
                        <a:t>Valor FOB total</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6"/>
                        </a:lnSpc>
                        <a:defRPr/>
                      </a:pPr>
                      <a:r>
                        <a:rPr lang="en-US" sz="2097" b="true">
                          <a:solidFill>
                            <a:srgbClr val="000000"/>
                          </a:solidFill>
                          <a:latin typeface="Montserrat Bold"/>
                          <a:ea typeface="Montserrat Bold"/>
                          <a:cs typeface="Montserrat Bold"/>
                          <a:sym typeface="Montserrat Bold"/>
                        </a:rPr>
                        <a:t>US$658,265</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9489">
                <a:tc>
                  <a:txBody>
                    <a:bodyPr anchor="t" rtlCol="false"/>
                    <a:lstStyle/>
                    <a:p>
                      <a:pPr algn="ctr">
                        <a:lnSpc>
                          <a:spcPts val="2936"/>
                        </a:lnSpc>
                        <a:defRPr/>
                      </a:pPr>
                      <a:r>
                        <a:rPr lang="en-US" sz="2097">
                          <a:solidFill>
                            <a:srgbClr val="000000"/>
                          </a:solidFill>
                          <a:latin typeface="Montserrat"/>
                          <a:ea typeface="Montserrat"/>
                          <a:cs typeface="Montserrat"/>
                          <a:sym typeface="Montserrat"/>
                        </a:rPr>
                        <a:t>Utilidad total</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6"/>
                        </a:lnSpc>
                        <a:defRPr/>
                      </a:pPr>
                      <a:r>
                        <a:rPr lang="en-US" sz="2097" b="true">
                          <a:solidFill>
                            <a:srgbClr val="000000"/>
                          </a:solidFill>
                          <a:latin typeface="Montserrat Bold"/>
                          <a:ea typeface="Montserrat Bold"/>
                          <a:cs typeface="Montserrat Bold"/>
                          <a:sym typeface="Montserrat Bold"/>
                        </a:rPr>
                        <a:t>US$214,072</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9745233" y="735625"/>
            <a:ext cx="7267116" cy="3033903"/>
          </a:xfrm>
          <a:prstGeom prst="rect">
            <a:avLst/>
          </a:prstGeom>
        </p:spPr>
        <p:txBody>
          <a:bodyPr anchor="t" rtlCol="false" tIns="0" lIns="0" bIns="0" rIns="0">
            <a:spAutoFit/>
          </a:bodyPr>
          <a:lstStyle/>
          <a:p>
            <a:pPr algn="just">
              <a:lnSpc>
                <a:spcPts val="2196"/>
              </a:lnSpc>
            </a:pPr>
            <a:r>
              <a:rPr lang="en-US" sz="1800">
                <a:solidFill>
                  <a:srgbClr val="04264A"/>
                </a:solidFill>
                <a:latin typeface="Montserrat"/>
                <a:ea typeface="Montserrat"/>
                <a:cs typeface="Montserrat"/>
                <a:sym typeface="Montserrat"/>
              </a:rPr>
              <a:t>Según el análisis realizado en Excel, NicaExport Trading, S.A. registró 100 operaciones internacionales, distribuidas en cinco mercados, con 20 operaciones por país. El valor FOB total de las operaciones fue de US$658,265, mientras que la utilidad total alcanzó US$214,072.</a:t>
            </a:r>
          </a:p>
          <a:p>
            <a:pPr algn="just">
              <a:lnSpc>
                <a:spcPts val="2196"/>
              </a:lnSpc>
            </a:pPr>
          </a:p>
          <a:p>
            <a:pPr algn="just">
              <a:lnSpc>
                <a:spcPts val="2196"/>
              </a:lnSpc>
            </a:pPr>
            <a:r>
              <a:rPr lang="en-US" sz="1800">
                <a:solidFill>
                  <a:srgbClr val="04264A"/>
                </a:solidFill>
                <a:latin typeface="Montserrat"/>
                <a:ea typeface="Montserrat"/>
                <a:cs typeface="Montserrat"/>
                <a:sym typeface="Montserrat"/>
              </a:rPr>
              <a:t>Del total de operaciones, 15 se encuentran pendientes, por lo que requieren seguimiento por parte de la empresa. Además, el análisis de prioridad comercial muestra que 48 operaciones tienen prioridad alta, 46 prioridad media y 6 prioridad baja.</a:t>
            </a:r>
          </a:p>
          <a:p>
            <a:pPr algn="just" marL="0" indent="0" lvl="0">
              <a:lnSpc>
                <a:spcPts val="2196"/>
              </a:lnSpc>
              <a:spcBef>
                <a:spcPct val="0"/>
              </a:spcBef>
            </a:pPr>
          </a:p>
        </p:txBody>
      </p:sp>
      <p:sp>
        <p:nvSpPr>
          <p:cNvPr name="TextBox 11" id="11"/>
          <p:cNvSpPr txBox="true"/>
          <p:nvPr/>
        </p:nvSpPr>
        <p:spPr>
          <a:xfrm rot="0">
            <a:off x="1028700" y="4653553"/>
            <a:ext cx="6684158" cy="914400"/>
          </a:xfrm>
          <a:prstGeom prst="rect">
            <a:avLst/>
          </a:prstGeom>
        </p:spPr>
        <p:txBody>
          <a:bodyPr anchor="t" rtlCol="false" tIns="0" lIns="0" bIns="0" rIns="0">
            <a:spAutoFit/>
          </a:bodyPr>
          <a:lstStyle/>
          <a:p>
            <a:pPr algn="l" marL="0" indent="0" lvl="0">
              <a:lnSpc>
                <a:spcPts val="7200"/>
              </a:lnSpc>
            </a:pPr>
            <a:r>
              <a:rPr lang="en-US" b="true" sz="6000" spc="179">
                <a:solidFill>
                  <a:srgbClr val="04264A"/>
                </a:solidFill>
                <a:latin typeface="Montserrat Bold"/>
                <a:ea typeface="Montserrat Bold"/>
                <a:cs typeface="Montserrat Bold"/>
                <a:sym typeface="Montserrat Bold"/>
              </a:rPr>
              <a:t>OPERACIONES</a:t>
            </a:r>
          </a:p>
        </p:txBody>
      </p:sp>
      <p:sp>
        <p:nvSpPr>
          <p:cNvPr name="TextBox 12" id="12"/>
          <p:cNvSpPr txBox="true"/>
          <p:nvPr/>
        </p:nvSpPr>
        <p:spPr>
          <a:xfrm rot="0">
            <a:off x="826916" y="3710449"/>
            <a:ext cx="3745986" cy="512455"/>
          </a:xfrm>
          <a:prstGeom prst="rect">
            <a:avLst/>
          </a:prstGeom>
        </p:spPr>
        <p:txBody>
          <a:bodyPr anchor="t" rtlCol="false" tIns="0" lIns="0" bIns="0" rIns="0">
            <a:spAutoFit/>
          </a:bodyPr>
          <a:lstStyle/>
          <a:p>
            <a:pPr algn="l" marL="0" indent="0" lvl="0">
              <a:lnSpc>
                <a:spcPts val="4035"/>
              </a:lnSpc>
            </a:pPr>
            <a:r>
              <a:rPr lang="en-US" b="true" sz="3362" spc="100">
                <a:solidFill>
                  <a:srgbClr val="04264A"/>
                </a:solidFill>
                <a:latin typeface="Montserrat Bold"/>
                <a:ea typeface="Montserrat Bold"/>
                <a:cs typeface="Montserrat Bold"/>
                <a:sym typeface="Montserrat Bold"/>
              </a:rPr>
              <a:t>RESUMEN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60559" y="7931736"/>
            <a:ext cx="672115" cy="743789"/>
          </a:xfrm>
          <a:custGeom>
            <a:avLst/>
            <a:gdLst/>
            <a:ahLst/>
            <a:cxnLst/>
            <a:rect r="r" b="b" t="t" l="l"/>
            <a:pathLst>
              <a:path h="743789" w="672115">
                <a:moveTo>
                  <a:pt x="0" y="0"/>
                </a:moveTo>
                <a:lnTo>
                  <a:pt x="672115" y="0"/>
                </a:lnTo>
                <a:lnTo>
                  <a:pt x="672115" y="743790"/>
                </a:lnTo>
                <a:lnTo>
                  <a:pt x="0" y="7437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86656" y="-237924"/>
            <a:ext cx="8083954" cy="10824632"/>
            <a:chOff x="0" y="0"/>
            <a:chExt cx="1252416" cy="1677019"/>
          </a:xfrm>
        </p:grpSpPr>
        <p:sp>
          <p:nvSpPr>
            <p:cNvPr name="Freeform 4" id="4"/>
            <p:cNvSpPr/>
            <p:nvPr/>
          </p:nvSpPr>
          <p:spPr>
            <a:xfrm flipH="false" flipV="false" rot="0">
              <a:off x="0" y="0"/>
              <a:ext cx="1252416" cy="1677019"/>
            </a:xfrm>
            <a:custGeom>
              <a:avLst/>
              <a:gdLst/>
              <a:ahLst/>
              <a:cxnLst/>
              <a:rect r="r" b="b" t="t" l="l"/>
              <a:pathLst>
                <a:path h="1677019" w="1252416">
                  <a:moveTo>
                    <a:pt x="0" y="0"/>
                  </a:moveTo>
                  <a:lnTo>
                    <a:pt x="1252416" y="0"/>
                  </a:lnTo>
                  <a:lnTo>
                    <a:pt x="1252416" y="1677019"/>
                  </a:lnTo>
                  <a:lnTo>
                    <a:pt x="0" y="1677019"/>
                  </a:lnTo>
                  <a:close/>
                </a:path>
              </a:pathLst>
            </a:custGeom>
            <a:blipFill>
              <a:blip r:embed="rId4"/>
              <a:stretch>
                <a:fillRect l="-16951" t="0" r="-16951" b="0"/>
              </a:stretch>
            </a:blipFill>
          </p:spPr>
        </p:sp>
      </p:grpSp>
      <p:graphicFrame>
        <p:nvGraphicFramePr>
          <p:cNvPr name="Table 5" id="5"/>
          <p:cNvGraphicFramePr>
            <a:graphicFrameLocks noGrp="true"/>
          </p:cNvGraphicFramePr>
          <p:nvPr/>
        </p:nvGraphicFramePr>
        <p:xfrm>
          <a:off x="8896617" y="2531534"/>
          <a:ext cx="8270294" cy="5772097"/>
        </p:xfrm>
        <a:graphic>
          <a:graphicData uri="http://schemas.openxmlformats.org/drawingml/2006/table">
            <a:tbl>
              <a:tblPr/>
              <a:tblGrid>
                <a:gridCol w="4250544"/>
                <a:gridCol w="4019751"/>
              </a:tblGrid>
              <a:tr h="853358">
                <a:tc>
                  <a:txBody>
                    <a:bodyPr anchor="t" rtlCol="false"/>
                    <a:lstStyle/>
                    <a:p>
                      <a:pPr algn="ctr">
                        <a:lnSpc>
                          <a:spcPts val="2936"/>
                        </a:lnSpc>
                        <a:defRPr/>
                      </a:pPr>
                      <a:r>
                        <a:rPr lang="en-US" sz="2097" b="true">
                          <a:solidFill>
                            <a:srgbClr val="FFFFFF"/>
                          </a:solidFill>
                          <a:latin typeface="Montserrat Bold"/>
                          <a:ea typeface="Montserrat Bold"/>
                          <a:cs typeface="Montserrat Bold"/>
                          <a:sym typeface="Montserrat Bold"/>
                        </a:rPr>
                        <a:t>Indicador</a:t>
                      </a:r>
                      <a:r>
                        <a:rPr lang="en-US" sz="2097">
                          <a:solidFill>
                            <a:srgbClr val="000000"/>
                          </a:solidFill>
                          <a:latin typeface="Montserrat"/>
                          <a:ea typeface="Montserrat"/>
                          <a:cs typeface="Montserrat"/>
                          <a:sym typeface="Montserrat"/>
                        </a:rPr>
                        <a: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04264A"/>
                    </a:solidFill>
                  </a:tcPr>
                </a:tc>
                <a:tc>
                  <a:txBody>
                    <a:bodyPr anchor="t" rtlCol="false"/>
                    <a:lstStyle/>
                    <a:p>
                      <a:pPr algn="ctr">
                        <a:lnSpc>
                          <a:spcPts val="2936"/>
                        </a:lnSpc>
                        <a:defRPr/>
                      </a:pPr>
                      <a:r>
                        <a:rPr lang="en-US" sz="2097" b="true">
                          <a:solidFill>
                            <a:srgbClr val="FFFFFF"/>
                          </a:solidFill>
                          <a:latin typeface="Montserrat Bold"/>
                          <a:ea typeface="Montserrat Bold"/>
                          <a:cs typeface="Montserrat Bold"/>
                          <a:sym typeface="Montserrat Bold"/>
                        </a:rPr>
                        <a:t>Resultado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04264A"/>
                    </a:solidFill>
                  </a:tcPr>
                </a:tc>
              </a:tr>
              <a:tr h="1227301">
                <a:tc>
                  <a:txBody>
                    <a:bodyPr anchor="t" rtlCol="false"/>
                    <a:lstStyle/>
                    <a:p>
                      <a:pPr algn="ctr">
                        <a:lnSpc>
                          <a:spcPts val="2936"/>
                        </a:lnSpc>
                        <a:defRPr/>
                      </a:pPr>
                      <a:r>
                        <a:rPr lang="en-US" sz="2097">
                          <a:solidFill>
                            <a:srgbClr val="000000"/>
                          </a:solidFill>
                          <a:latin typeface="Montserrat"/>
                          <a:ea typeface="Montserrat"/>
                          <a:cs typeface="Montserrat"/>
                          <a:sym typeface="Montserrat"/>
                        </a:rPr>
                        <a:t>Operaciones pendientes</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6"/>
                        </a:lnSpc>
                        <a:defRPr/>
                      </a:pPr>
                      <a:r>
                        <a:rPr lang="en-US" sz="2097" b="true">
                          <a:solidFill>
                            <a:srgbClr val="000000"/>
                          </a:solidFill>
                          <a:latin typeface="Montserrat Bold"/>
                          <a:ea typeface="Montserrat Bold"/>
                          <a:cs typeface="Montserrat Bold"/>
                          <a:sym typeface="Montserrat Bold"/>
                        </a:rPr>
                        <a:t>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36836">
                <a:tc>
                  <a:txBody>
                    <a:bodyPr anchor="t" rtlCol="false"/>
                    <a:lstStyle/>
                    <a:p>
                      <a:pPr algn="ctr">
                        <a:lnSpc>
                          <a:spcPts val="2936"/>
                        </a:lnSpc>
                        <a:defRPr/>
                      </a:pPr>
                      <a:r>
                        <a:rPr lang="en-US" sz="2097">
                          <a:solidFill>
                            <a:srgbClr val="000000"/>
                          </a:solidFill>
                          <a:latin typeface="Montserrat"/>
                          <a:ea typeface="Montserrat"/>
                          <a:cs typeface="Montserrat"/>
                          <a:sym typeface="Montserrat"/>
                        </a:rPr>
                        <a:t>Prioridad alta</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6"/>
                        </a:lnSpc>
                        <a:defRPr/>
                      </a:pPr>
                      <a:r>
                        <a:rPr lang="en-US" sz="2097" b="true">
                          <a:solidFill>
                            <a:srgbClr val="000000"/>
                          </a:solidFill>
                          <a:latin typeface="Montserrat Bold"/>
                          <a:ea typeface="Montserrat Bold"/>
                          <a:cs typeface="Montserrat Bold"/>
                          <a:sym typeface="Montserrat Bold"/>
                        </a:rPr>
                        <a:t>48</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7301">
                <a:tc>
                  <a:txBody>
                    <a:bodyPr anchor="t" rtlCol="false"/>
                    <a:lstStyle/>
                    <a:p>
                      <a:pPr algn="ctr">
                        <a:lnSpc>
                          <a:spcPts val="2936"/>
                        </a:lnSpc>
                        <a:defRPr/>
                      </a:pPr>
                      <a:r>
                        <a:rPr lang="en-US" sz="2097">
                          <a:solidFill>
                            <a:srgbClr val="000000"/>
                          </a:solidFill>
                          <a:latin typeface="Montserrat"/>
                          <a:ea typeface="Montserrat"/>
                          <a:cs typeface="Montserrat"/>
                          <a:sym typeface="Montserrat"/>
                        </a:rPr>
                        <a:t>Prioridad media</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6"/>
                        </a:lnSpc>
                        <a:defRPr/>
                      </a:pPr>
                      <a:r>
                        <a:rPr lang="en-US" sz="2097" b="true">
                          <a:solidFill>
                            <a:srgbClr val="000000"/>
                          </a:solidFill>
                          <a:latin typeface="Montserrat Bold"/>
                          <a:ea typeface="Montserrat Bold"/>
                          <a:cs typeface="Montserrat Bold"/>
                          <a:sym typeface="Montserrat Bold"/>
                        </a:rPr>
                        <a:t>46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7301">
                <a:tc>
                  <a:txBody>
                    <a:bodyPr anchor="t" rtlCol="false"/>
                    <a:lstStyle/>
                    <a:p>
                      <a:pPr algn="ctr">
                        <a:lnSpc>
                          <a:spcPts val="2936"/>
                        </a:lnSpc>
                        <a:defRPr/>
                      </a:pPr>
                      <a:r>
                        <a:rPr lang="en-US" sz="2097">
                          <a:solidFill>
                            <a:srgbClr val="000000"/>
                          </a:solidFill>
                          <a:latin typeface="Montserrat"/>
                          <a:ea typeface="Montserrat"/>
                          <a:cs typeface="Montserrat"/>
                          <a:sym typeface="Montserrat"/>
                        </a:rPr>
                        <a:t>Prioridad baja</a:t>
                      </a:r>
                      <a:endParaRPr lang="en-US" sz="1100"/>
                    </a:p>
                    <a:p>
                      <a:pPr algn="ctr">
                        <a:lnSpc>
                          <a:spcPts val="2936"/>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6"/>
                        </a:lnSpc>
                        <a:defRPr/>
                      </a:pPr>
                      <a:r>
                        <a:rPr lang="en-US" sz="2097" b="true">
                          <a:solidFill>
                            <a:srgbClr val="000000"/>
                          </a:solidFill>
                          <a:latin typeface="Montserrat Bold"/>
                          <a:ea typeface="Montserrat Bold"/>
                          <a:cs typeface="Montserrat Bold"/>
                          <a:sym typeface="Montserrat Bold"/>
                        </a:rPr>
                        <a:t>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028700" y="4653553"/>
            <a:ext cx="6684158" cy="914400"/>
          </a:xfrm>
          <a:prstGeom prst="rect">
            <a:avLst/>
          </a:prstGeom>
        </p:spPr>
        <p:txBody>
          <a:bodyPr anchor="t" rtlCol="false" tIns="0" lIns="0" bIns="0" rIns="0">
            <a:spAutoFit/>
          </a:bodyPr>
          <a:lstStyle/>
          <a:p>
            <a:pPr algn="l" marL="0" indent="0" lvl="0">
              <a:lnSpc>
                <a:spcPts val="7200"/>
              </a:lnSpc>
            </a:pPr>
            <a:r>
              <a:rPr lang="en-US" b="true" sz="6000" spc="179">
                <a:solidFill>
                  <a:srgbClr val="04264A"/>
                </a:solidFill>
                <a:latin typeface="Montserrat Bold"/>
                <a:ea typeface="Montserrat Bold"/>
                <a:cs typeface="Montserrat Bold"/>
                <a:sym typeface="Montserrat Bold"/>
              </a:rPr>
              <a:t>OPERACIONES</a:t>
            </a:r>
          </a:p>
        </p:txBody>
      </p:sp>
      <p:sp>
        <p:nvSpPr>
          <p:cNvPr name="TextBox 7" id="7"/>
          <p:cNvSpPr txBox="true"/>
          <p:nvPr/>
        </p:nvSpPr>
        <p:spPr>
          <a:xfrm rot="0">
            <a:off x="826916" y="3710449"/>
            <a:ext cx="3745986" cy="512455"/>
          </a:xfrm>
          <a:prstGeom prst="rect">
            <a:avLst/>
          </a:prstGeom>
        </p:spPr>
        <p:txBody>
          <a:bodyPr anchor="t" rtlCol="false" tIns="0" lIns="0" bIns="0" rIns="0">
            <a:spAutoFit/>
          </a:bodyPr>
          <a:lstStyle/>
          <a:p>
            <a:pPr algn="l" marL="0" indent="0" lvl="0">
              <a:lnSpc>
                <a:spcPts val="4035"/>
              </a:lnSpc>
            </a:pPr>
            <a:r>
              <a:rPr lang="en-US" b="true" sz="3362" spc="100">
                <a:solidFill>
                  <a:srgbClr val="04264A"/>
                </a:solidFill>
                <a:latin typeface="Montserrat Bold"/>
                <a:ea typeface="Montserrat Bold"/>
                <a:cs typeface="Montserrat Bold"/>
                <a:sym typeface="Montserrat Bold"/>
              </a:rPr>
              <a:t>RESUMEN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77626" y="5465424"/>
            <a:ext cx="7431879" cy="3501543"/>
            <a:chOff x="0" y="0"/>
            <a:chExt cx="1957367" cy="922217"/>
          </a:xfrm>
        </p:grpSpPr>
        <p:sp>
          <p:nvSpPr>
            <p:cNvPr name="Freeform 3" id="3"/>
            <p:cNvSpPr/>
            <p:nvPr/>
          </p:nvSpPr>
          <p:spPr>
            <a:xfrm flipH="false" flipV="false" rot="0">
              <a:off x="0" y="0"/>
              <a:ext cx="1957367" cy="922217"/>
            </a:xfrm>
            <a:custGeom>
              <a:avLst/>
              <a:gdLst/>
              <a:ahLst/>
              <a:cxnLst/>
              <a:rect r="r" b="b" t="t" l="l"/>
              <a:pathLst>
                <a:path h="922217" w="1957367">
                  <a:moveTo>
                    <a:pt x="0" y="0"/>
                  </a:moveTo>
                  <a:lnTo>
                    <a:pt x="1957367" y="0"/>
                  </a:lnTo>
                  <a:lnTo>
                    <a:pt x="1957367" y="922217"/>
                  </a:lnTo>
                  <a:lnTo>
                    <a:pt x="0" y="922217"/>
                  </a:lnTo>
                  <a:close/>
                </a:path>
              </a:pathLst>
            </a:custGeom>
            <a:solidFill>
              <a:srgbClr val="FFFFFF"/>
            </a:solidFill>
          </p:spPr>
        </p:sp>
        <p:sp>
          <p:nvSpPr>
            <p:cNvPr name="TextBox 4" id="4"/>
            <p:cNvSpPr txBox="true"/>
            <p:nvPr/>
          </p:nvSpPr>
          <p:spPr>
            <a:xfrm>
              <a:off x="0" y="0"/>
              <a:ext cx="1957367" cy="922217"/>
            </a:xfrm>
            <a:prstGeom prst="rect">
              <a:avLst/>
            </a:prstGeom>
          </p:spPr>
          <p:txBody>
            <a:bodyPr anchor="t" rtlCol="false" tIns="254000" lIns="254000" bIns="254000" rIns="254000"/>
            <a:lstStyle/>
            <a:p>
              <a:pPr algn="just">
                <a:lnSpc>
                  <a:spcPts val="2196"/>
                </a:lnSpc>
              </a:pPr>
              <a:r>
                <a:rPr lang="en-US" sz="1800" b="true">
                  <a:solidFill>
                    <a:srgbClr val="04264A"/>
                  </a:solidFill>
                  <a:latin typeface="Montserrat Bold"/>
                  <a:ea typeface="Montserrat Bold"/>
                  <a:cs typeface="Montserrat Bold"/>
                  <a:sym typeface="Montserrat Bold"/>
                </a:rPr>
                <a:t>Principales regiones:</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Norteamérica: US$289,058</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Centroamérica: US$232,879</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Europa: US$136,328</a:t>
              </a:r>
            </a:p>
            <a:p>
              <a:pPr algn="just">
                <a:lnSpc>
                  <a:spcPts val="2196"/>
                </a:lnSpc>
              </a:pPr>
            </a:p>
            <a:p>
              <a:pPr algn="just">
                <a:lnSpc>
                  <a:spcPts val="2196"/>
                </a:lnSpc>
              </a:pPr>
            </a:p>
            <a:p>
              <a:pPr algn="just">
                <a:lnSpc>
                  <a:spcPts val="2196"/>
                </a:lnSpc>
              </a:pPr>
              <a:r>
                <a:rPr lang="en-US" sz="1800" b="true">
                  <a:solidFill>
                    <a:srgbClr val="04264A"/>
                  </a:solidFill>
                  <a:latin typeface="Montserrat Bold"/>
                  <a:ea typeface="Montserrat Bold"/>
                  <a:cs typeface="Montserrat Bold"/>
                  <a:sym typeface="Montserrat Bold"/>
                </a:rPr>
                <a:t>Análisis</a:t>
              </a:r>
            </a:p>
            <a:p>
              <a:pPr algn="just">
                <a:lnSpc>
                  <a:spcPts val="2196"/>
                </a:lnSpc>
              </a:pPr>
              <a:r>
                <a:rPr lang="en-US" sz="1800">
                  <a:solidFill>
                    <a:srgbClr val="04264A"/>
                  </a:solidFill>
                  <a:latin typeface="Montserrat"/>
                  <a:ea typeface="Montserrat"/>
                  <a:cs typeface="Montserrat"/>
                  <a:sym typeface="Montserrat"/>
                </a:rPr>
                <a:t>Estados Unidos es el principal mercado de </a:t>
              </a:r>
              <a:r>
                <a:rPr lang="en-US" sz="1800" b="true">
                  <a:solidFill>
                    <a:srgbClr val="04264A"/>
                  </a:solidFill>
                  <a:latin typeface="Montserrat Bold"/>
                  <a:ea typeface="Montserrat Bold"/>
                  <a:cs typeface="Montserrat Bold"/>
                  <a:sym typeface="Montserrat Bold"/>
                </a:rPr>
                <a:t>NicaExport Trading, S.A.,</a:t>
              </a:r>
              <a:r>
                <a:rPr lang="en-US" sz="1800">
                  <a:solidFill>
                    <a:srgbClr val="04264A"/>
                  </a:solidFill>
                  <a:latin typeface="Montserrat"/>
                  <a:ea typeface="Montserrat"/>
                  <a:cs typeface="Montserrat"/>
                  <a:sym typeface="Montserrat"/>
                </a:rPr>
                <a:t> con US$168,745 en valor FOB. Le siguen España con US$136,328 y México con US$120,313.</a:t>
              </a:r>
            </a:p>
            <a:p>
              <a:pPr algn="just">
                <a:lnSpc>
                  <a:spcPts val="2196"/>
                </a:lnSpc>
              </a:pPr>
            </a:p>
          </p:txBody>
        </p:sp>
      </p:grpSp>
      <p:graphicFrame>
        <p:nvGraphicFramePr>
          <p:cNvPr name="Object 5" id="5"/>
          <p:cNvGraphicFramePr/>
          <p:nvPr/>
        </p:nvGraphicFramePr>
        <p:xfrm>
          <a:off x="9411252" y="1419692"/>
          <a:ext cx="4143375" cy="5657850"/>
        </p:xfrm>
        <a:graphic>
          <a:graphicData uri="http://schemas.openxmlformats.org/presentationml/2006/ole">
            <p:oleObj imgW="5270500" imgH="6781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6" id="6"/>
          <p:cNvSpPr/>
          <p:nvPr/>
        </p:nvSpPr>
        <p:spPr>
          <a:xfrm flipH="false" flipV="false" rot="0">
            <a:off x="1532185" y="2470033"/>
            <a:ext cx="5340511" cy="5651335"/>
          </a:xfrm>
          <a:custGeom>
            <a:avLst/>
            <a:gdLst/>
            <a:ahLst/>
            <a:cxnLst/>
            <a:rect r="r" b="b" t="t" l="l"/>
            <a:pathLst>
              <a:path h="5651335" w="5340511">
                <a:moveTo>
                  <a:pt x="0" y="0"/>
                </a:moveTo>
                <a:lnTo>
                  <a:pt x="5340511" y="0"/>
                </a:lnTo>
                <a:lnTo>
                  <a:pt x="5340511" y="5651335"/>
                </a:lnTo>
                <a:lnTo>
                  <a:pt x="0" y="5651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1429217"/>
            <a:ext cx="6668013" cy="547258"/>
          </a:xfrm>
          <a:prstGeom prst="rect">
            <a:avLst/>
          </a:prstGeom>
        </p:spPr>
        <p:txBody>
          <a:bodyPr anchor="t" rtlCol="false" tIns="0" lIns="0" bIns="0" rIns="0">
            <a:spAutoFit/>
          </a:bodyPr>
          <a:lstStyle/>
          <a:p>
            <a:pPr algn="l" marL="0" indent="0" lvl="0">
              <a:lnSpc>
                <a:spcPts val="4384"/>
              </a:lnSpc>
            </a:pPr>
            <a:r>
              <a:rPr lang="en-US" b="true" sz="3653" spc="109">
                <a:solidFill>
                  <a:srgbClr val="FFFFFF"/>
                </a:solidFill>
                <a:latin typeface="Montserrat Bold"/>
                <a:ea typeface="Montserrat Bold"/>
                <a:cs typeface="Montserrat Bold"/>
                <a:sym typeface="Montserrat Bold"/>
              </a:rPr>
              <a:t>PRINCIPALES MERCADOS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6656" y="-237924"/>
            <a:ext cx="8412928" cy="10824632"/>
            <a:chOff x="0" y="0"/>
            <a:chExt cx="1303383" cy="1677019"/>
          </a:xfrm>
        </p:grpSpPr>
        <p:sp>
          <p:nvSpPr>
            <p:cNvPr name="Freeform 3" id="3"/>
            <p:cNvSpPr/>
            <p:nvPr/>
          </p:nvSpPr>
          <p:spPr>
            <a:xfrm flipH="false" flipV="false" rot="0">
              <a:off x="0" y="0"/>
              <a:ext cx="1303383" cy="1677019"/>
            </a:xfrm>
            <a:custGeom>
              <a:avLst/>
              <a:gdLst/>
              <a:ahLst/>
              <a:cxnLst/>
              <a:rect r="r" b="b" t="t" l="l"/>
              <a:pathLst>
                <a:path h="1677019" w="1303383">
                  <a:moveTo>
                    <a:pt x="0" y="0"/>
                  </a:moveTo>
                  <a:lnTo>
                    <a:pt x="1303383" y="0"/>
                  </a:lnTo>
                  <a:lnTo>
                    <a:pt x="1303383" y="1677019"/>
                  </a:lnTo>
                  <a:lnTo>
                    <a:pt x="0" y="1677019"/>
                  </a:lnTo>
                  <a:close/>
                </a:path>
              </a:pathLst>
            </a:custGeom>
            <a:blipFill>
              <a:blip r:embed="rId2"/>
              <a:stretch>
                <a:fillRect l="-69174" t="0" r="-23825" b="0"/>
              </a:stretch>
            </a:blipFill>
          </p:spPr>
        </p:sp>
      </p:grpSp>
      <p:grpSp>
        <p:nvGrpSpPr>
          <p:cNvPr name="Group 4" id="4"/>
          <p:cNvGrpSpPr/>
          <p:nvPr/>
        </p:nvGrpSpPr>
        <p:grpSpPr>
          <a:xfrm rot="0">
            <a:off x="755507" y="5645449"/>
            <a:ext cx="6328602" cy="2396643"/>
            <a:chOff x="0" y="0"/>
            <a:chExt cx="1666792" cy="631215"/>
          </a:xfrm>
        </p:grpSpPr>
        <p:sp>
          <p:nvSpPr>
            <p:cNvPr name="Freeform 5" id="5"/>
            <p:cNvSpPr/>
            <p:nvPr/>
          </p:nvSpPr>
          <p:spPr>
            <a:xfrm flipH="false" flipV="false" rot="0">
              <a:off x="0" y="0"/>
              <a:ext cx="1666792" cy="631215"/>
            </a:xfrm>
            <a:custGeom>
              <a:avLst/>
              <a:gdLst/>
              <a:ahLst/>
              <a:cxnLst/>
              <a:rect r="r" b="b" t="t" l="l"/>
              <a:pathLst>
                <a:path h="631215" w="1666792">
                  <a:moveTo>
                    <a:pt x="0" y="0"/>
                  </a:moveTo>
                  <a:lnTo>
                    <a:pt x="1666792" y="0"/>
                  </a:lnTo>
                  <a:lnTo>
                    <a:pt x="1666792" y="631215"/>
                  </a:lnTo>
                  <a:lnTo>
                    <a:pt x="0" y="631215"/>
                  </a:lnTo>
                  <a:close/>
                </a:path>
              </a:pathLst>
            </a:custGeom>
            <a:solidFill>
              <a:srgbClr val="FFFFFF"/>
            </a:solidFill>
          </p:spPr>
        </p:sp>
        <p:sp>
          <p:nvSpPr>
            <p:cNvPr name="TextBox 6" id="6"/>
            <p:cNvSpPr txBox="true"/>
            <p:nvPr/>
          </p:nvSpPr>
          <p:spPr>
            <a:xfrm>
              <a:off x="0" y="0"/>
              <a:ext cx="1666792" cy="631215"/>
            </a:xfrm>
            <a:prstGeom prst="rect">
              <a:avLst/>
            </a:prstGeom>
          </p:spPr>
          <p:txBody>
            <a:bodyPr anchor="t" rtlCol="false" tIns="254000" lIns="254000" bIns="254000" rIns="254000"/>
            <a:lstStyle/>
            <a:p>
              <a:pPr algn="l">
                <a:lnSpc>
                  <a:spcPts val="2196"/>
                </a:lnSpc>
              </a:pPr>
              <a:r>
                <a:rPr lang="en-US" sz="1800" b="true">
                  <a:solidFill>
                    <a:srgbClr val="04264A"/>
                  </a:solidFill>
                  <a:latin typeface="Montserrat Bold"/>
                  <a:ea typeface="Montserrat Bold"/>
                  <a:cs typeface="Montserrat Bold"/>
                  <a:sym typeface="Montserrat Bold"/>
                </a:rPr>
                <a:t>Análisis</a:t>
              </a:r>
            </a:p>
            <a:p>
              <a:pPr algn="l">
                <a:lnSpc>
                  <a:spcPts val="2196"/>
                </a:lnSpc>
              </a:pPr>
              <a:r>
                <a:rPr lang="en-US" sz="1800" b="true">
                  <a:solidFill>
                    <a:srgbClr val="04264A"/>
                  </a:solidFill>
                  <a:latin typeface="Montserrat Bold"/>
                  <a:ea typeface="Montserrat Bold"/>
                  <a:cs typeface="Montserrat Bold"/>
                  <a:sym typeface="Montserrat Bold"/>
                </a:rPr>
                <a:t>El Café especial es el producto que genera la mayor utilidad, con US$62,832.</a:t>
              </a:r>
              <a:r>
                <a:rPr lang="en-US" sz="1800">
                  <a:solidFill>
                    <a:srgbClr val="04264A"/>
                  </a:solidFill>
                  <a:latin typeface="Montserrat"/>
                  <a:ea typeface="Montserrat"/>
                  <a:cs typeface="Montserrat"/>
                  <a:sym typeface="Montserrat"/>
                </a:rPr>
                <a:t> Le siguen el aceite de ajonjolí y la miel natural.</a:t>
              </a:r>
              <a:r>
                <a:rPr lang="en-US" sz="1800">
                  <a:solidFill>
                    <a:srgbClr val="04264A"/>
                  </a:solidFill>
                  <a:latin typeface="Montserrat"/>
                  <a:ea typeface="Montserrat"/>
                  <a:cs typeface="Montserrat"/>
                  <a:sym typeface="Montserrat"/>
                </a:rPr>
                <a:t> Los cinco productos presentan aportes importantes a la rentabilidad de la empresa.</a:t>
              </a:r>
            </a:p>
            <a:p>
              <a:pPr algn="l">
                <a:lnSpc>
                  <a:spcPts val="2196"/>
                </a:lnSpc>
              </a:pPr>
            </a:p>
          </p:txBody>
        </p:sp>
      </p:grpSp>
      <p:sp>
        <p:nvSpPr>
          <p:cNvPr name="Freeform 7" id="7"/>
          <p:cNvSpPr/>
          <p:nvPr/>
        </p:nvSpPr>
        <p:spPr>
          <a:xfrm flipH="false" flipV="false" rot="0">
            <a:off x="8769723" y="2848308"/>
            <a:ext cx="8801998" cy="5596867"/>
          </a:xfrm>
          <a:custGeom>
            <a:avLst/>
            <a:gdLst/>
            <a:ahLst/>
            <a:cxnLst/>
            <a:rect r="r" b="b" t="t" l="l"/>
            <a:pathLst>
              <a:path h="5596867" w="8801998">
                <a:moveTo>
                  <a:pt x="0" y="0"/>
                </a:moveTo>
                <a:lnTo>
                  <a:pt x="8801998" y="0"/>
                </a:lnTo>
                <a:lnTo>
                  <a:pt x="8801998" y="5596867"/>
                </a:lnTo>
                <a:lnTo>
                  <a:pt x="0" y="5596867"/>
                </a:lnTo>
                <a:lnTo>
                  <a:pt x="0" y="0"/>
                </a:lnTo>
                <a:close/>
              </a:path>
            </a:pathLst>
          </a:custGeom>
          <a:blipFill>
            <a:blip r:embed="rId3"/>
            <a:stretch>
              <a:fillRect l="-10990" t="-3737" r="-6071" b="-1402"/>
            </a:stretch>
          </a:blipFill>
        </p:spPr>
      </p:sp>
      <p:sp>
        <p:nvSpPr>
          <p:cNvPr name="TextBox 8" id="8"/>
          <p:cNvSpPr txBox="true"/>
          <p:nvPr/>
        </p:nvSpPr>
        <p:spPr>
          <a:xfrm rot="0">
            <a:off x="1028700" y="3455039"/>
            <a:ext cx="6523035" cy="1688461"/>
          </a:xfrm>
          <a:prstGeom prst="rect">
            <a:avLst/>
          </a:prstGeom>
        </p:spPr>
        <p:txBody>
          <a:bodyPr anchor="t" rtlCol="false" tIns="0" lIns="0" bIns="0" rIns="0">
            <a:spAutoFit/>
          </a:bodyPr>
          <a:lstStyle/>
          <a:p>
            <a:pPr algn="l" marL="0" indent="0" lvl="0">
              <a:lnSpc>
                <a:spcPts val="6609"/>
              </a:lnSpc>
            </a:pPr>
            <a:r>
              <a:rPr lang="en-US" b="true" sz="5508" spc="165">
                <a:solidFill>
                  <a:srgbClr val="04264A"/>
                </a:solidFill>
                <a:latin typeface="Montserrat Bold"/>
                <a:ea typeface="Montserrat Bold"/>
                <a:cs typeface="Montserrat Bold"/>
                <a:sym typeface="Montserrat Bold"/>
              </a:rPr>
              <a:t>PRODUCTOS IMPORTANTES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77" r="0" b="-9277"/>
            </a:stretch>
          </a:blipFill>
        </p:spPr>
      </p:sp>
      <p:grpSp>
        <p:nvGrpSpPr>
          <p:cNvPr name="Group 3" id="3"/>
          <p:cNvGrpSpPr/>
          <p:nvPr/>
        </p:nvGrpSpPr>
        <p:grpSpPr>
          <a:xfrm rot="0">
            <a:off x="1356977" y="1028700"/>
            <a:ext cx="12420914" cy="8229600"/>
            <a:chOff x="0" y="0"/>
            <a:chExt cx="3271352" cy="2167467"/>
          </a:xfrm>
        </p:grpSpPr>
        <p:sp>
          <p:nvSpPr>
            <p:cNvPr name="Freeform 4" id="4"/>
            <p:cNvSpPr/>
            <p:nvPr/>
          </p:nvSpPr>
          <p:spPr>
            <a:xfrm flipH="false" flipV="false" rot="0">
              <a:off x="0" y="0"/>
              <a:ext cx="3271352" cy="2167467"/>
            </a:xfrm>
            <a:custGeom>
              <a:avLst/>
              <a:gdLst/>
              <a:ahLst/>
              <a:cxnLst/>
              <a:rect r="r" b="b" t="t" l="l"/>
              <a:pathLst>
                <a:path h="2167467" w="3271352">
                  <a:moveTo>
                    <a:pt x="0" y="0"/>
                  </a:moveTo>
                  <a:lnTo>
                    <a:pt x="3271352" y="0"/>
                  </a:lnTo>
                  <a:lnTo>
                    <a:pt x="3271352" y="2167467"/>
                  </a:lnTo>
                  <a:lnTo>
                    <a:pt x="0" y="2167467"/>
                  </a:lnTo>
                  <a:close/>
                </a:path>
              </a:pathLst>
            </a:custGeom>
            <a:solidFill>
              <a:srgbClr val="FFFFFF"/>
            </a:solidFill>
          </p:spPr>
        </p:sp>
        <p:sp>
          <p:nvSpPr>
            <p:cNvPr name="TextBox 5" id="5"/>
            <p:cNvSpPr txBox="true"/>
            <p:nvPr/>
          </p:nvSpPr>
          <p:spPr>
            <a:xfrm>
              <a:off x="0" y="0"/>
              <a:ext cx="3271352" cy="2167467"/>
            </a:xfrm>
            <a:prstGeom prst="rect">
              <a:avLst/>
            </a:prstGeom>
          </p:spPr>
          <p:txBody>
            <a:bodyPr anchor="ctr" rtlCol="false" tIns="50800" lIns="50800" bIns="50800" rIns="50800"/>
            <a:lstStyle/>
            <a:p>
              <a:pPr algn="ctr">
                <a:lnSpc>
                  <a:spcPts val="2196"/>
                </a:lnSpc>
              </a:pPr>
            </a:p>
          </p:txBody>
        </p:sp>
      </p:grpSp>
      <p:graphicFrame>
        <p:nvGraphicFramePr>
          <p:cNvPr name="Object 6" id="6"/>
          <p:cNvGraphicFramePr/>
          <p:nvPr/>
        </p:nvGraphicFramePr>
        <p:xfrm>
          <a:off x="2346819" y="3257550"/>
          <a:ext cx="4300538" cy="3771900"/>
        </p:xfrm>
        <a:graphic>
          <a:graphicData uri="http://schemas.openxmlformats.org/presentationml/2006/ole">
            <p:oleObj imgW="5156200" imgH="4622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2346819" y="1936343"/>
            <a:ext cx="6181379" cy="1321207"/>
          </a:xfrm>
          <a:prstGeom prst="rect">
            <a:avLst/>
          </a:prstGeom>
        </p:spPr>
        <p:txBody>
          <a:bodyPr anchor="t" rtlCol="false" tIns="0" lIns="0" bIns="0" rIns="0">
            <a:spAutoFit/>
          </a:bodyPr>
          <a:lstStyle/>
          <a:p>
            <a:pPr algn="l">
              <a:lnSpc>
                <a:spcPts val="3492"/>
              </a:lnSpc>
            </a:pPr>
            <a:r>
              <a:rPr lang="en-US" b="true" sz="2910" spc="87">
                <a:solidFill>
                  <a:srgbClr val="04264A"/>
                </a:solidFill>
                <a:latin typeface="Montserrat Bold"/>
                <a:ea typeface="Montserrat Bold"/>
                <a:cs typeface="Montserrat Bold"/>
                <a:sym typeface="Montserrat Bold"/>
              </a:rPr>
              <a:t>RENTABILIDAD Y OPERACIONES PRIORITARIAS</a:t>
            </a:r>
          </a:p>
          <a:p>
            <a:pPr algn="l" marL="0" indent="0" lvl="0">
              <a:lnSpc>
                <a:spcPts val="3492"/>
              </a:lnSpc>
              <a:spcBef>
                <a:spcPct val="0"/>
              </a:spcBef>
            </a:pPr>
          </a:p>
        </p:txBody>
      </p:sp>
      <p:sp>
        <p:nvSpPr>
          <p:cNvPr name="TextBox 8" id="8"/>
          <p:cNvSpPr txBox="true"/>
          <p:nvPr/>
        </p:nvSpPr>
        <p:spPr>
          <a:xfrm rot="0">
            <a:off x="2346819" y="7026199"/>
            <a:ext cx="6011325" cy="1929003"/>
          </a:xfrm>
          <a:prstGeom prst="rect">
            <a:avLst/>
          </a:prstGeom>
        </p:spPr>
        <p:txBody>
          <a:bodyPr anchor="t" rtlCol="false" tIns="0" lIns="0" bIns="0" rIns="0">
            <a:spAutoFit/>
          </a:bodyPr>
          <a:lstStyle/>
          <a:p>
            <a:pPr algn="just">
              <a:lnSpc>
                <a:spcPts val="2196"/>
              </a:lnSpc>
            </a:pPr>
            <a:r>
              <a:rPr lang="en-US" sz="1800">
                <a:solidFill>
                  <a:srgbClr val="04264A"/>
                </a:solidFill>
                <a:latin typeface="Montserrat"/>
                <a:ea typeface="Montserrat"/>
                <a:cs typeface="Montserrat"/>
                <a:sym typeface="Montserrat"/>
              </a:rPr>
              <a:t>La empresa presenta un nivel favorable de rentabilidad, pero debe dar seguimiento a las operaciones pendientes y mantener especial atención en las operaciones de alta prioridad comercial.</a:t>
            </a:r>
          </a:p>
          <a:p>
            <a:pPr algn="l">
              <a:lnSpc>
                <a:spcPts val="2196"/>
              </a:lnSpc>
            </a:pPr>
          </a:p>
          <a:p>
            <a:pPr algn="l" marL="0" indent="0" lvl="0">
              <a:lnSpc>
                <a:spcPts val="2196"/>
              </a:lnSpc>
              <a:spcBef>
                <a:spcPct val="0"/>
              </a:spcBef>
            </a:pPr>
          </a:p>
        </p:txBody>
      </p:sp>
      <p:sp>
        <p:nvSpPr>
          <p:cNvPr name="TextBox 9" id="9"/>
          <p:cNvSpPr txBox="true"/>
          <p:nvPr/>
        </p:nvSpPr>
        <p:spPr>
          <a:xfrm rot="0">
            <a:off x="8694483" y="3257550"/>
            <a:ext cx="4341358" cy="4415028"/>
          </a:xfrm>
          <a:prstGeom prst="rect">
            <a:avLst/>
          </a:prstGeom>
        </p:spPr>
        <p:txBody>
          <a:bodyPr anchor="t" rtlCol="false" tIns="0" lIns="0" bIns="0" rIns="0">
            <a:spAutoFit/>
          </a:bodyPr>
          <a:lstStyle/>
          <a:p>
            <a:pPr algn="just">
              <a:lnSpc>
                <a:spcPts val="2196"/>
              </a:lnSpc>
            </a:pPr>
            <a:r>
              <a:rPr lang="en-US" sz="1800" b="true">
                <a:solidFill>
                  <a:srgbClr val="04264A"/>
                </a:solidFill>
                <a:latin typeface="Montserrat Bold"/>
                <a:ea typeface="Montserrat Bold"/>
                <a:cs typeface="Montserrat Bold"/>
                <a:sym typeface="Montserrat Bold"/>
              </a:rPr>
              <a:t>Rentabilidad</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82 operaciones presentan rentabilidad alta.</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Estados Unidos registra el mayor margen promedio: 33.04 %.</a:t>
            </a:r>
          </a:p>
          <a:p>
            <a:pPr algn="just">
              <a:lnSpc>
                <a:spcPts val="2196"/>
              </a:lnSpc>
            </a:pPr>
          </a:p>
          <a:p>
            <a:pPr algn="just">
              <a:lnSpc>
                <a:spcPts val="2196"/>
              </a:lnSpc>
            </a:pPr>
            <a:r>
              <a:rPr lang="en-US" sz="1800" b="true">
                <a:solidFill>
                  <a:srgbClr val="04264A"/>
                </a:solidFill>
                <a:latin typeface="Montserrat Bold"/>
                <a:ea typeface="Montserrat Bold"/>
                <a:cs typeface="Montserrat Bold"/>
                <a:sym typeface="Montserrat Bold"/>
              </a:rPr>
              <a:t>Operaciones prioritarias</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48 operaciones tienen prioridad comercial alta.</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46 operaciones tienen prioridad media.</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6 operaciones tienen prioridad baja.</a:t>
            </a:r>
          </a:p>
          <a:p>
            <a:pPr algn="just" marL="388622" indent="-194311" lvl="1">
              <a:lnSpc>
                <a:spcPts val="2196"/>
              </a:lnSpc>
              <a:buFont typeface="Arial"/>
              <a:buChar char="•"/>
            </a:pPr>
            <a:r>
              <a:rPr lang="en-US" sz="1800">
                <a:solidFill>
                  <a:srgbClr val="04264A"/>
                </a:solidFill>
                <a:latin typeface="Montserrat"/>
                <a:ea typeface="Montserrat"/>
                <a:cs typeface="Montserrat"/>
                <a:sym typeface="Montserrat"/>
              </a:rPr>
              <a:t>15 operaciones se encuentran pendientes y requieren seguimiento.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295406" y="1233590"/>
            <a:ext cx="3948683" cy="8024710"/>
            <a:chOff x="0" y="0"/>
            <a:chExt cx="5001260" cy="10163810"/>
          </a:xfrm>
        </p:grpSpPr>
        <p:sp>
          <p:nvSpPr>
            <p:cNvPr name="Freeform 3" id="3"/>
            <p:cNvSpPr/>
            <p:nvPr/>
          </p:nvSpPr>
          <p:spPr>
            <a:xfrm flipH="false" flipV="false" rot="0">
              <a:off x="0" y="0"/>
              <a:ext cx="5000993" cy="10163632"/>
            </a:xfrm>
            <a:custGeom>
              <a:avLst/>
              <a:gdLst/>
              <a:ahLst/>
              <a:cxnLst/>
              <a:rect r="r" b="b" t="t" l="l"/>
              <a:pathLst>
                <a:path h="10163632" w="5000993">
                  <a:moveTo>
                    <a:pt x="0" y="0"/>
                  </a:moveTo>
                  <a:lnTo>
                    <a:pt x="5000993" y="0"/>
                  </a:lnTo>
                  <a:lnTo>
                    <a:pt x="5000993" y="10163632"/>
                  </a:lnTo>
                  <a:lnTo>
                    <a:pt x="0" y="10163632"/>
                  </a:lnTo>
                  <a:close/>
                </a:path>
              </a:pathLst>
            </a:custGeom>
            <a:blipFill>
              <a:blip r:embed="rId2"/>
              <a:stretch>
                <a:fillRect l="-45" t="0" r="-45" b="0"/>
              </a:stretch>
            </a:blipFill>
          </p:spPr>
        </p:sp>
        <p:sp>
          <p:nvSpPr>
            <p:cNvPr name="Freeform 4" id="4"/>
            <p:cNvSpPr/>
            <p:nvPr/>
          </p:nvSpPr>
          <p:spPr>
            <a:xfrm flipH="false" flipV="false" rot="0">
              <a:off x="338760" y="288798"/>
              <a:ext cx="4330776" cy="9398000"/>
            </a:xfrm>
            <a:custGeom>
              <a:avLst/>
              <a:gdLst/>
              <a:ahLst/>
              <a:cxnLst/>
              <a:rect r="r" b="b" t="t" l="l"/>
              <a:pathLst>
                <a:path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12753" t="0" r="-112753" b="0"/>
              </a:stretch>
            </a:blipFill>
          </p:spPr>
        </p:sp>
      </p:grpSp>
      <p:grpSp>
        <p:nvGrpSpPr>
          <p:cNvPr name="Group 5" id="5"/>
          <p:cNvGrpSpPr/>
          <p:nvPr/>
        </p:nvGrpSpPr>
        <p:grpSpPr>
          <a:xfrm rot="0">
            <a:off x="1555080" y="3888216"/>
            <a:ext cx="609908" cy="6099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4264A"/>
            </a:solidFill>
            <a:ln w="57150" cap="sq">
              <a:solidFill>
                <a:srgbClr val="04264A"/>
              </a:solidFill>
              <a:prstDash val="solid"/>
              <a:miter/>
            </a:ln>
          </p:spPr>
        </p:sp>
        <p:sp>
          <p:nvSpPr>
            <p:cNvPr name="TextBox 7" id="7"/>
            <p:cNvSpPr txBox="true"/>
            <p:nvPr/>
          </p:nvSpPr>
          <p:spPr>
            <a:xfrm>
              <a:off x="0" y="0"/>
              <a:ext cx="812800" cy="812800"/>
            </a:xfrm>
            <a:prstGeom prst="rect">
              <a:avLst/>
            </a:prstGeom>
          </p:spPr>
          <p:txBody>
            <a:bodyPr anchor="ctr" rtlCol="false" tIns="50800" lIns="50800" bIns="50800" rIns="50800"/>
            <a:lstStyle/>
            <a:p>
              <a:pPr algn="ctr">
                <a:lnSpc>
                  <a:spcPts val="2196"/>
                </a:lnSpc>
              </a:pPr>
            </a:p>
          </p:txBody>
        </p:sp>
      </p:grpSp>
      <p:grpSp>
        <p:nvGrpSpPr>
          <p:cNvPr name="Group 8" id="8"/>
          <p:cNvGrpSpPr/>
          <p:nvPr/>
        </p:nvGrpSpPr>
        <p:grpSpPr>
          <a:xfrm rot="0">
            <a:off x="1555080" y="6489349"/>
            <a:ext cx="609908" cy="6099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4264A"/>
            </a:solidFill>
            <a:ln w="57150" cap="sq">
              <a:solidFill>
                <a:srgbClr val="04264A"/>
              </a:solidFill>
              <a:prstDash val="solid"/>
              <a:miter/>
            </a:ln>
          </p:spPr>
        </p:sp>
        <p:sp>
          <p:nvSpPr>
            <p:cNvPr name="TextBox 10" id="10"/>
            <p:cNvSpPr txBox="true"/>
            <p:nvPr/>
          </p:nvSpPr>
          <p:spPr>
            <a:xfrm>
              <a:off x="0" y="0"/>
              <a:ext cx="812800" cy="812800"/>
            </a:xfrm>
            <a:prstGeom prst="rect">
              <a:avLst/>
            </a:prstGeom>
          </p:spPr>
          <p:txBody>
            <a:bodyPr anchor="ctr" rtlCol="false" tIns="50800" lIns="50800" bIns="50800" rIns="50800"/>
            <a:lstStyle/>
            <a:p>
              <a:pPr algn="ctr">
                <a:lnSpc>
                  <a:spcPts val="2196"/>
                </a:lnSpc>
              </a:pPr>
            </a:p>
          </p:txBody>
        </p:sp>
      </p:grpSp>
      <p:grpSp>
        <p:nvGrpSpPr>
          <p:cNvPr name="Group 11" id="11"/>
          <p:cNvGrpSpPr/>
          <p:nvPr/>
        </p:nvGrpSpPr>
        <p:grpSpPr>
          <a:xfrm rot="0">
            <a:off x="4888114" y="3888216"/>
            <a:ext cx="609908" cy="60990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4264A"/>
            </a:solidFill>
            <a:ln w="57150" cap="sq">
              <a:solidFill>
                <a:srgbClr val="04264A"/>
              </a:solidFill>
              <a:prstDash val="solid"/>
              <a:miter/>
            </a:ln>
          </p:spPr>
        </p:sp>
        <p:sp>
          <p:nvSpPr>
            <p:cNvPr name="TextBox 13" id="13"/>
            <p:cNvSpPr txBox="true"/>
            <p:nvPr/>
          </p:nvSpPr>
          <p:spPr>
            <a:xfrm>
              <a:off x="0" y="0"/>
              <a:ext cx="812800" cy="812800"/>
            </a:xfrm>
            <a:prstGeom prst="rect">
              <a:avLst/>
            </a:prstGeom>
          </p:spPr>
          <p:txBody>
            <a:bodyPr anchor="ctr" rtlCol="false" tIns="50800" lIns="50800" bIns="50800" rIns="50800"/>
            <a:lstStyle/>
            <a:p>
              <a:pPr algn="ctr">
                <a:lnSpc>
                  <a:spcPts val="2196"/>
                </a:lnSpc>
              </a:pPr>
            </a:p>
          </p:txBody>
        </p:sp>
      </p:grpSp>
      <p:grpSp>
        <p:nvGrpSpPr>
          <p:cNvPr name="Group 14" id="14"/>
          <p:cNvGrpSpPr/>
          <p:nvPr/>
        </p:nvGrpSpPr>
        <p:grpSpPr>
          <a:xfrm rot="0">
            <a:off x="4939797" y="6489349"/>
            <a:ext cx="609908" cy="60990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4264A"/>
            </a:solidFill>
            <a:ln w="57150" cap="sq">
              <a:solidFill>
                <a:srgbClr val="04264A"/>
              </a:solidFill>
              <a:prstDash val="solid"/>
              <a:miter/>
            </a:ln>
          </p:spPr>
        </p:sp>
        <p:sp>
          <p:nvSpPr>
            <p:cNvPr name="TextBox 16" id="16"/>
            <p:cNvSpPr txBox="true"/>
            <p:nvPr/>
          </p:nvSpPr>
          <p:spPr>
            <a:xfrm>
              <a:off x="0" y="0"/>
              <a:ext cx="812800" cy="812800"/>
            </a:xfrm>
            <a:prstGeom prst="rect">
              <a:avLst/>
            </a:prstGeom>
          </p:spPr>
          <p:txBody>
            <a:bodyPr anchor="ctr" rtlCol="false" tIns="50800" lIns="50800" bIns="50800" rIns="50800"/>
            <a:lstStyle/>
            <a:p>
              <a:pPr algn="ctr">
                <a:lnSpc>
                  <a:spcPts val="2196"/>
                </a:lnSpc>
              </a:pPr>
            </a:p>
          </p:txBody>
        </p:sp>
      </p:grpSp>
      <p:sp>
        <p:nvSpPr>
          <p:cNvPr name="TextBox 17" id="17"/>
          <p:cNvSpPr txBox="true"/>
          <p:nvPr/>
        </p:nvSpPr>
        <p:spPr>
          <a:xfrm rot="0">
            <a:off x="1555080" y="4740886"/>
            <a:ext cx="3025249" cy="1377315"/>
          </a:xfrm>
          <a:prstGeom prst="rect">
            <a:avLst/>
          </a:prstGeom>
        </p:spPr>
        <p:txBody>
          <a:bodyPr anchor="t" rtlCol="false" tIns="0" lIns="0" bIns="0" rIns="0">
            <a:spAutoFit/>
          </a:bodyPr>
          <a:lstStyle/>
          <a:p>
            <a:pPr algn="l">
              <a:lnSpc>
                <a:spcPts val="1830"/>
              </a:lnSpc>
              <a:spcBef>
                <a:spcPct val="0"/>
              </a:spcBef>
            </a:pPr>
            <a:r>
              <a:rPr lang="en-US" sz="1500">
                <a:solidFill>
                  <a:srgbClr val="04264A"/>
                </a:solidFill>
                <a:latin typeface="Montserrat"/>
                <a:ea typeface="Montserrat"/>
                <a:cs typeface="Montserrat"/>
                <a:sym typeface="Montserrat"/>
              </a:rPr>
              <a:t>Estados Unidos es el principal mercado, con un valor FOB de US$168,745, siendo el país que genera mayores ingresos por exportaciones.</a:t>
            </a:r>
          </a:p>
          <a:p>
            <a:pPr algn="l" marL="0" indent="0" lvl="0">
              <a:lnSpc>
                <a:spcPts val="1830"/>
              </a:lnSpc>
              <a:spcBef>
                <a:spcPct val="0"/>
              </a:spcBef>
            </a:pPr>
          </a:p>
        </p:txBody>
      </p:sp>
      <p:sp>
        <p:nvSpPr>
          <p:cNvPr name="TextBox 18" id="18"/>
          <p:cNvSpPr txBox="true"/>
          <p:nvPr/>
        </p:nvSpPr>
        <p:spPr>
          <a:xfrm rot="0">
            <a:off x="1555080" y="1163220"/>
            <a:ext cx="7588920" cy="1475059"/>
          </a:xfrm>
          <a:prstGeom prst="rect">
            <a:avLst/>
          </a:prstGeom>
        </p:spPr>
        <p:txBody>
          <a:bodyPr anchor="t" rtlCol="false" tIns="0" lIns="0" bIns="0" rIns="0">
            <a:spAutoFit/>
          </a:bodyPr>
          <a:lstStyle/>
          <a:p>
            <a:pPr algn="l" marL="0" indent="0" lvl="0">
              <a:lnSpc>
                <a:spcPts val="5844"/>
              </a:lnSpc>
            </a:pPr>
            <a:r>
              <a:rPr lang="en-US" b="true" sz="4870" spc="146">
                <a:solidFill>
                  <a:srgbClr val="04264A"/>
                </a:solidFill>
                <a:latin typeface="Montserrat Bold"/>
                <a:ea typeface="Montserrat Bold"/>
                <a:cs typeface="Montserrat Bold"/>
                <a:sym typeface="Montserrat Bold"/>
              </a:rPr>
              <a:t>PRINCIPALES HALLAZGOS</a:t>
            </a:r>
          </a:p>
        </p:txBody>
      </p:sp>
      <p:sp>
        <p:nvSpPr>
          <p:cNvPr name="TextBox 19" id="19"/>
          <p:cNvSpPr txBox="true"/>
          <p:nvPr/>
        </p:nvSpPr>
        <p:spPr>
          <a:xfrm rot="0">
            <a:off x="1755245" y="3966786"/>
            <a:ext cx="209578" cy="412478"/>
          </a:xfrm>
          <a:prstGeom prst="rect">
            <a:avLst/>
          </a:prstGeom>
        </p:spPr>
        <p:txBody>
          <a:bodyPr anchor="t" rtlCol="false" tIns="0" lIns="0" bIns="0" rIns="0">
            <a:spAutoFit/>
          </a:bodyPr>
          <a:lstStyle/>
          <a:p>
            <a:pPr algn="l" marL="0" indent="0" lvl="0">
              <a:lnSpc>
                <a:spcPts val="3223"/>
              </a:lnSpc>
            </a:pPr>
            <a:r>
              <a:rPr lang="en-US" b="true" sz="2686" spc="80">
                <a:solidFill>
                  <a:srgbClr val="FFFFFF"/>
                </a:solidFill>
                <a:latin typeface="Montserrat Ultra-Bold"/>
                <a:ea typeface="Montserrat Ultra-Bold"/>
                <a:cs typeface="Montserrat Ultra-Bold"/>
                <a:sym typeface="Montserrat Ultra-Bold"/>
              </a:rPr>
              <a:t>1</a:t>
            </a:r>
          </a:p>
        </p:txBody>
      </p:sp>
      <p:sp>
        <p:nvSpPr>
          <p:cNvPr name="TextBox 20" id="20"/>
          <p:cNvSpPr txBox="true"/>
          <p:nvPr/>
        </p:nvSpPr>
        <p:spPr>
          <a:xfrm rot="0">
            <a:off x="1755245" y="6584752"/>
            <a:ext cx="209578" cy="409575"/>
          </a:xfrm>
          <a:prstGeom prst="rect">
            <a:avLst/>
          </a:prstGeom>
        </p:spPr>
        <p:txBody>
          <a:bodyPr anchor="t" rtlCol="false" tIns="0" lIns="0" bIns="0" rIns="0">
            <a:spAutoFit/>
          </a:bodyPr>
          <a:lstStyle/>
          <a:p>
            <a:pPr algn="l" marL="0" indent="0" lvl="0">
              <a:lnSpc>
                <a:spcPts val="3223"/>
              </a:lnSpc>
            </a:pPr>
            <a:r>
              <a:rPr lang="en-US" b="true" sz="2686" spc="80">
                <a:solidFill>
                  <a:srgbClr val="FFFFFF"/>
                </a:solidFill>
                <a:latin typeface="Montserrat Ultra-Bold"/>
                <a:ea typeface="Montserrat Ultra-Bold"/>
                <a:cs typeface="Montserrat Ultra-Bold"/>
                <a:sym typeface="Montserrat Ultra-Bold"/>
              </a:rPr>
              <a:t>4</a:t>
            </a:r>
          </a:p>
        </p:txBody>
      </p:sp>
      <p:sp>
        <p:nvSpPr>
          <p:cNvPr name="TextBox 21" id="21"/>
          <p:cNvSpPr txBox="true"/>
          <p:nvPr/>
        </p:nvSpPr>
        <p:spPr>
          <a:xfrm rot="0">
            <a:off x="5088279" y="3966786"/>
            <a:ext cx="209578" cy="412478"/>
          </a:xfrm>
          <a:prstGeom prst="rect">
            <a:avLst/>
          </a:prstGeom>
        </p:spPr>
        <p:txBody>
          <a:bodyPr anchor="t" rtlCol="false" tIns="0" lIns="0" bIns="0" rIns="0">
            <a:spAutoFit/>
          </a:bodyPr>
          <a:lstStyle/>
          <a:p>
            <a:pPr algn="l" marL="0" indent="0" lvl="0">
              <a:lnSpc>
                <a:spcPts val="3223"/>
              </a:lnSpc>
            </a:pPr>
            <a:r>
              <a:rPr lang="en-US" b="true" sz="2686" spc="80">
                <a:solidFill>
                  <a:srgbClr val="FFFFFF"/>
                </a:solidFill>
                <a:latin typeface="Montserrat Ultra-Bold"/>
                <a:ea typeface="Montserrat Ultra-Bold"/>
                <a:cs typeface="Montserrat Ultra-Bold"/>
                <a:sym typeface="Montserrat Ultra-Bold"/>
              </a:rPr>
              <a:t>2</a:t>
            </a:r>
          </a:p>
        </p:txBody>
      </p:sp>
      <p:sp>
        <p:nvSpPr>
          <p:cNvPr name="TextBox 22" id="22"/>
          <p:cNvSpPr txBox="true"/>
          <p:nvPr/>
        </p:nvSpPr>
        <p:spPr>
          <a:xfrm rot="0">
            <a:off x="5139962" y="6135438"/>
            <a:ext cx="209578" cy="815467"/>
          </a:xfrm>
          <a:prstGeom prst="rect">
            <a:avLst/>
          </a:prstGeom>
        </p:spPr>
        <p:txBody>
          <a:bodyPr anchor="t" rtlCol="false" tIns="0" lIns="0" bIns="0" rIns="0">
            <a:spAutoFit/>
          </a:bodyPr>
          <a:lstStyle/>
          <a:p>
            <a:pPr algn="l">
              <a:lnSpc>
                <a:spcPts val="3223"/>
              </a:lnSpc>
            </a:pPr>
          </a:p>
          <a:p>
            <a:pPr algn="l" marL="0" indent="0" lvl="0">
              <a:lnSpc>
                <a:spcPts val="3223"/>
              </a:lnSpc>
            </a:pPr>
            <a:r>
              <a:rPr lang="en-US" b="true" sz="2686" spc="80">
                <a:solidFill>
                  <a:srgbClr val="FFFFFF"/>
                </a:solidFill>
                <a:latin typeface="Montserrat Ultra-Bold"/>
                <a:ea typeface="Montserrat Ultra-Bold"/>
                <a:cs typeface="Montserrat Ultra-Bold"/>
                <a:sym typeface="Montserrat Ultra-Bold"/>
              </a:rPr>
              <a:t>5</a:t>
            </a:r>
          </a:p>
        </p:txBody>
      </p:sp>
      <p:grpSp>
        <p:nvGrpSpPr>
          <p:cNvPr name="Group 23" id="23"/>
          <p:cNvGrpSpPr/>
          <p:nvPr/>
        </p:nvGrpSpPr>
        <p:grpSpPr>
          <a:xfrm rot="0">
            <a:off x="8321480" y="6490809"/>
            <a:ext cx="609908" cy="60990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4264A"/>
            </a:solidFill>
            <a:ln w="57150" cap="sq">
              <a:solidFill>
                <a:srgbClr val="04264A"/>
              </a:solidFill>
              <a:prstDash val="solid"/>
              <a:miter/>
            </a:ln>
          </p:spPr>
        </p:sp>
        <p:sp>
          <p:nvSpPr>
            <p:cNvPr name="TextBox 25" id="25"/>
            <p:cNvSpPr txBox="true"/>
            <p:nvPr/>
          </p:nvSpPr>
          <p:spPr>
            <a:xfrm>
              <a:off x="0" y="0"/>
              <a:ext cx="812800" cy="812800"/>
            </a:xfrm>
            <a:prstGeom prst="rect">
              <a:avLst/>
            </a:prstGeom>
          </p:spPr>
          <p:txBody>
            <a:bodyPr anchor="ctr" rtlCol="false" tIns="50800" lIns="50800" bIns="50800" rIns="50800"/>
            <a:lstStyle/>
            <a:p>
              <a:pPr algn="ctr">
                <a:lnSpc>
                  <a:spcPts val="2196"/>
                </a:lnSpc>
              </a:pPr>
            </a:p>
          </p:txBody>
        </p:sp>
      </p:grpSp>
      <p:sp>
        <p:nvSpPr>
          <p:cNvPr name="TextBox 26" id="26"/>
          <p:cNvSpPr txBox="true"/>
          <p:nvPr/>
        </p:nvSpPr>
        <p:spPr>
          <a:xfrm rot="0">
            <a:off x="8479420" y="6584752"/>
            <a:ext cx="209578" cy="412496"/>
          </a:xfrm>
          <a:prstGeom prst="rect">
            <a:avLst/>
          </a:prstGeom>
        </p:spPr>
        <p:txBody>
          <a:bodyPr anchor="t" rtlCol="false" tIns="0" lIns="0" bIns="0" rIns="0">
            <a:spAutoFit/>
          </a:bodyPr>
          <a:lstStyle/>
          <a:p>
            <a:pPr algn="l" marL="0" indent="0" lvl="0">
              <a:lnSpc>
                <a:spcPts val="3223"/>
              </a:lnSpc>
            </a:pPr>
            <a:r>
              <a:rPr lang="en-US" b="true" sz="2686" spc="80">
                <a:solidFill>
                  <a:srgbClr val="FFFFFF"/>
                </a:solidFill>
                <a:latin typeface="Montserrat Ultra-Bold"/>
                <a:ea typeface="Montserrat Ultra-Bold"/>
                <a:cs typeface="Montserrat Ultra-Bold"/>
                <a:sym typeface="Montserrat Ultra-Bold"/>
              </a:rPr>
              <a:t>6</a:t>
            </a:r>
          </a:p>
        </p:txBody>
      </p:sp>
      <p:grpSp>
        <p:nvGrpSpPr>
          <p:cNvPr name="Group 27" id="27"/>
          <p:cNvGrpSpPr/>
          <p:nvPr/>
        </p:nvGrpSpPr>
        <p:grpSpPr>
          <a:xfrm rot="0">
            <a:off x="8279255" y="3872833"/>
            <a:ext cx="609908" cy="609908"/>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4264A"/>
            </a:solidFill>
            <a:ln w="57150" cap="sq">
              <a:solidFill>
                <a:srgbClr val="04264A"/>
              </a:solidFill>
              <a:prstDash val="solid"/>
              <a:miter/>
            </a:ln>
          </p:spPr>
        </p:sp>
        <p:sp>
          <p:nvSpPr>
            <p:cNvPr name="TextBox 29" id="29"/>
            <p:cNvSpPr txBox="true"/>
            <p:nvPr/>
          </p:nvSpPr>
          <p:spPr>
            <a:xfrm>
              <a:off x="0" y="0"/>
              <a:ext cx="812800" cy="812800"/>
            </a:xfrm>
            <a:prstGeom prst="rect">
              <a:avLst/>
            </a:prstGeom>
          </p:spPr>
          <p:txBody>
            <a:bodyPr anchor="ctr" rtlCol="false" tIns="50800" lIns="50800" bIns="50800" rIns="50800"/>
            <a:lstStyle/>
            <a:p>
              <a:pPr algn="ctr">
                <a:lnSpc>
                  <a:spcPts val="2196"/>
                </a:lnSpc>
              </a:pPr>
            </a:p>
          </p:txBody>
        </p:sp>
      </p:grpSp>
      <p:sp>
        <p:nvSpPr>
          <p:cNvPr name="TextBox 30" id="30"/>
          <p:cNvSpPr txBox="true"/>
          <p:nvPr/>
        </p:nvSpPr>
        <p:spPr>
          <a:xfrm rot="0">
            <a:off x="8479420" y="3982160"/>
            <a:ext cx="209578" cy="412496"/>
          </a:xfrm>
          <a:prstGeom prst="rect">
            <a:avLst/>
          </a:prstGeom>
        </p:spPr>
        <p:txBody>
          <a:bodyPr anchor="t" rtlCol="false" tIns="0" lIns="0" bIns="0" rIns="0">
            <a:spAutoFit/>
          </a:bodyPr>
          <a:lstStyle/>
          <a:p>
            <a:pPr algn="l" marL="0" indent="0" lvl="0">
              <a:lnSpc>
                <a:spcPts val="3223"/>
              </a:lnSpc>
            </a:pPr>
            <a:r>
              <a:rPr lang="en-US" b="true" sz="2686" spc="80">
                <a:solidFill>
                  <a:srgbClr val="FFFFFF"/>
                </a:solidFill>
                <a:latin typeface="Montserrat Ultra-Bold"/>
                <a:ea typeface="Montserrat Ultra-Bold"/>
                <a:cs typeface="Montserrat Ultra-Bold"/>
                <a:sym typeface="Montserrat Ultra-Bold"/>
              </a:rPr>
              <a:t>3</a:t>
            </a:r>
          </a:p>
        </p:txBody>
      </p:sp>
      <p:sp>
        <p:nvSpPr>
          <p:cNvPr name="TextBox 31" id="31"/>
          <p:cNvSpPr txBox="true"/>
          <p:nvPr/>
        </p:nvSpPr>
        <p:spPr>
          <a:xfrm rot="0">
            <a:off x="4888114" y="4767648"/>
            <a:ext cx="3025249" cy="1377315"/>
          </a:xfrm>
          <a:prstGeom prst="rect">
            <a:avLst/>
          </a:prstGeom>
        </p:spPr>
        <p:txBody>
          <a:bodyPr anchor="t" rtlCol="false" tIns="0" lIns="0" bIns="0" rIns="0">
            <a:spAutoFit/>
          </a:bodyPr>
          <a:lstStyle/>
          <a:p>
            <a:pPr algn="l">
              <a:lnSpc>
                <a:spcPts val="1830"/>
              </a:lnSpc>
              <a:spcBef>
                <a:spcPct val="0"/>
              </a:spcBef>
            </a:pPr>
            <a:r>
              <a:rPr lang="en-US" sz="1500">
                <a:solidFill>
                  <a:srgbClr val="04264A"/>
                </a:solidFill>
                <a:latin typeface="Montserrat"/>
                <a:ea typeface="Montserrat"/>
                <a:cs typeface="Montserrat"/>
                <a:sym typeface="Montserrat"/>
              </a:rPr>
              <a:t>Norteamérica representa la región con mayor valor FOB, alcanzando US$289,058, por encima de Centroamérica y Europa.</a:t>
            </a:r>
          </a:p>
          <a:p>
            <a:pPr algn="l" marL="0" indent="0" lvl="0">
              <a:lnSpc>
                <a:spcPts val="1830"/>
              </a:lnSpc>
              <a:spcBef>
                <a:spcPct val="0"/>
              </a:spcBef>
            </a:pPr>
          </a:p>
        </p:txBody>
      </p:sp>
      <p:sp>
        <p:nvSpPr>
          <p:cNvPr name="TextBox 32" id="32"/>
          <p:cNvSpPr txBox="true"/>
          <p:nvPr/>
        </p:nvSpPr>
        <p:spPr>
          <a:xfrm rot="0">
            <a:off x="8279255" y="4751317"/>
            <a:ext cx="3025249" cy="1377315"/>
          </a:xfrm>
          <a:prstGeom prst="rect">
            <a:avLst/>
          </a:prstGeom>
        </p:spPr>
        <p:txBody>
          <a:bodyPr anchor="t" rtlCol="false" tIns="0" lIns="0" bIns="0" rIns="0">
            <a:spAutoFit/>
          </a:bodyPr>
          <a:lstStyle/>
          <a:p>
            <a:pPr algn="l">
              <a:lnSpc>
                <a:spcPts val="1830"/>
              </a:lnSpc>
              <a:spcBef>
                <a:spcPct val="0"/>
              </a:spcBef>
            </a:pPr>
            <a:r>
              <a:rPr lang="en-US" sz="1500">
                <a:solidFill>
                  <a:srgbClr val="04264A"/>
                </a:solidFill>
                <a:latin typeface="Montserrat"/>
                <a:ea typeface="Montserrat"/>
                <a:cs typeface="Montserrat"/>
                <a:sym typeface="Montserrat"/>
              </a:rPr>
              <a:t>Norteamérica representa la región con mayor valor FOB, alcanzando US$289,058, por encima de Centroamérica y Europa.</a:t>
            </a:r>
          </a:p>
          <a:p>
            <a:pPr algn="l" marL="0" indent="0" lvl="0">
              <a:lnSpc>
                <a:spcPts val="1830"/>
              </a:lnSpc>
              <a:spcBef>
                <a:spcPct val="0"/>
              </a:spcBef>
            </a:pPr>
          </a:p>
        </p:txBody>
      </p:sp>
      <p:sp>
        <p:nvSpPr>
          <p:cNvPr name="TextBox 33" id="33"/>
          <p:cNvSpPr txBox="true"/>
          <p:nvPr/>
        </p:nvSpPr>
        <p:spPr>
          <a:xfrm rot="0">
            <a:off x="1459089" y="7247740"/>
            <a:ext cx="3025249" cy="1605915"/>
          </a:xfrm>
          <a:prstGeom prst="rect">
            <a:avLst/>
          </a:prstGeom>
        </p:spPr>
        <p:txBody>
          <a:bodyPr anchor="t" rtlCol="false" tIns="0" lIns="0" bIns="0" rIns="0">
            <a:spAutoFit/>
          </a:bodyPr>
          <a:lstStyle/>
          <a:p>
            <a:pPr algn="l">
              <a:lnSpc>
                <a:spcPts val="1830"/>
              </a:lnSpc>
              <a:spcBef>
                <a:spcPct val="0"/>
              </a:spcBef>
            </a:pPr>
            <a:r>
              <a:rPr lang="en-US" sz="1500">
                <a:solidFill>
                  <a:srgbClr val="04264A"/>
                </a:solidFill>
                <a:latin typeface="Montserrat"/>
                <a:ea typeface="Montserrat"/>
                <a:cs typeface="Montserrat"/>
                <a:sym typeface="Montserrat"/>
              </a:rPr>
              <a:t>Café especial es el producto que genera la mayor utilidad, con US$62,832, por lo que representa uno de los productos más importantes para la empresa.</a:t>
            </a:r>
          </a:p>
          <a:p>
            <a:pPr algn="l" marL="0" indent="0" lvl="0">
              <a:lnSpc>
                <a:spcPts val="1830"/>
              </a:lnSpc>
              <a:spcBef>
                <a:spcPct val="0"/>
              </a:spcBef>
            </a:pPr>
          </a:p>
        </p:txBody>
      </p:sp>
      <p:sp>
        <p:nvSpPr>
          <p:cNvPr name="TextBox 34" id="34"/>
          <p:cNvSpPr txBox="true"/>
          <p:nvPr/>
        </p:nvSpPr>
        <p:spPr>
          <a:xfrm rot="0">
            <a:off x="4903439" y="7247740"/>
            <a:ext cx="3025249" cy="1148715"/>
          </a:xfrm>
          <a:prstGeom prst="rect">
            <a:avLst/>
          </a:prstGeom>
        </p:spPr>
        <p:txBody>
          <a:bodyPr anchor="t" rtlCol="false" tIns="0" lIns="0" bIns="0" rIns="0">
            <a:spAutoFit/>
          </a:bodyPr>
          <a:lstStyle/>
          <a:p>
            <a:pPr algn="l">
              <a:lnSpc>
                <a:spcPts val="1830"/>
              </a:lnSpc>
            </a:pPr>
            <a:r>
              <a:rPr lang="en-US" sz="1500">
                <a:solidFill>
                  <a:srgbClr val="04264A"/>
                </a:solidFill>
                <a:latin typeface="Montserrat"/>
                <a:ea typeface="Montserrat"/>
                <a:cs typeface="Montserrat"/>
                <a:sym typeface="Montserrat"/>
              </a:rPr>
              <a:t>Global Foods es el cliente con mayor valor de exportación, con US$168,745, destacándose como un cliente clave.</a:t>
            </a:r>
          </a:p>
          <a:p>
            <a:pPr algn="l">
              <a:lnSpc>
                <a:spcPts val="1830"/>
              </a:lnSpc>
            </a:pPr>
          </a:p>
        </p:txBody>
      </p:sp>
      <p:sp>
        <p:nvSpPr>
          <p:cNvPr name="TextBox 35" id="35"/>
          <p:cNvSpPr txBox="true"/>
          <p:nvPr/>
        </p:nvSpPr>
        <p:spPr>
          <a:xfrm rot="0">
            <a:off x="8347788" y="7247740"/>
            <a:ext cx="3025249" cy="1834515"/>
          </a:xfrm>
          <a:prstGeom prst="rect">
            <a:avLst/>
          </a:prstGeom>
        </p:spPr>
        <p:txBody>
          <a:bodyPr anchor="t" rtlCol="false" tIns="0" lIns="0" bIns="0" rIns="0">
            <a:spAutoFit/>
          </a:bodyPr>
          <a:lstStyle/>
          <a:p>
            <a:pPr algn="l">
              <a:lnSpc>
                <a:spcPts val="1830"/>
              </a:lnSpc>
            </a:pPr>
            <a:r>
              <a:rPr lang="en-US" sz="1500">
                <a:solidFill>
                  <a:srgbClr val="04264A"/>
                </a:solidFill>
                <a:latin typeface="Montserrat"/>
                <a:ea typeface="Montserrat"/>
                <a:cs typeface="Montserrat"/>
                <a:sym typeface="Montserrat"/>
              </a:rPr>
              <a:t>De las 100 operaciones analizadas, 15 se encuentran pendientes, por lo que requieren seguimiento para evitar retrasos o posibles pérdidas.</a:t>
            </a:r>
          </a:p>
          <a:p>
            <a:pPr algn="l">
              <a:lnSpc>
                <a:spcPts val="1830"/>
              </a:lnSpc>
            </a:pPr>
          </a:p>
          <a:p>
            <a:pPr algn="l">
              <a:lnSpc>
                <a:spcPts val="1830"/>
              </a:lnSpc>
            </a:pPr>
          </a:p>
        </p:txBody>
      </p:sp>
      <p:sp>
        <p:nvSpPr>
          <p:cNvPr name="TextBox 36" id="36"/>
          <p:cNvSpPr txBox="true"/>
          <p:nvPr/>
        </p:nvSpPr>
        <p:spPr>
          <a:xfrm rot="0">
            <a:off x="1555080" y="2788544"/>
            <a:ext cx="8305333" cy="920115"/>
          </a:xfrm>
          <a:prstGeom prst="rect">
            <a:avLst/>
          </a:prstGeom>
        </p:spPr>
        <p:txBody>
          <a:bodyPr anchor="t" rtlCol="false" tIns="0" lIns="0" bIns="0" rIns="0">
            <a:spAutoFit/>
          </a:bodyPr>
          <a:lstStyle/>
          <a:p>
            <a:pPr algn="l">
              <a:lnSpc>
                <a:spcPts val="1830"/>
              </a:lnSpc>
              <a:spcBef>
                <a:spcPct val="0"/>
              </a:spcBef>
            </a:pPr>
            <a:r>
              <a:rPr lang="en-US" sz="1500">
                <a:solidFill>
                  <a:srgbClr val="04264A"/>
                </a:solidFill>
                <a:latin typeface="Montserrat"/>
                <a:ea typeface="Montserrat"/>
                <a:cs typeface="Montserrat"/>
                <a:sym typeface="Montserrat"/>
              </a:rPr>
              <a:t>Los resultados muestran que la empresa tiene una mayor fortaleza comercial en Norteamérica, especialmente en Estados Unidos, mientras que el café especial destaca como el producto de mayor generación de utilidad.</a:t>
            </a:r>
          </a:p>
          <a:p>
            <a:pPr algn="l" marL="0" indent="0" lvl="0">
              <a:lnSpc>
                <a:spcPts val="183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4175706" y="6804647"/>
            <a:ext cx="4097406" cy="0"/>
          </a:xfrm>
          <a:prstGeom prst="line">
            <a:avLst/>
          </a:prstGeom>
          <a:ln cap="flat" w="38100">
            <a:solidFill>
              <a:srgbClr val="04264A"/>
            </a:solidFill>
            <a:prstDash val="solid"/>
            <a:headEnd type="none" len="sm" w="sm"/>
            <a:tailEnd type="none" len="sm" w="sm"/>
          </a:ln>
        </p:spPr>
      </p:sp>
      <p:sp>
        <p:nvSpPr>
          <p:cNvPr name="AutoShape 3" id="3"/>
          <p:cNvSpPr/>
          <p:nvPr/>
        </p:nvSpPr>
        <p:spPr>
          <a:xfrm rot="-5399999">
            <a:off x="10132884" y="6804647"/>
            <a:ext cx="4097406" cy="0"/>
          </a:xfrm>
          <a:prstGeom prst="line">
            <a:avLst/>
          </a:prstGeom>
          <a:ln cap="flat" w="38100">
            <a:solidFill>
              <a:srgbClr val="04264A"/>
            </a:solidFill>
            <a:prstDash val="solid"/>
            <a:headEnd type="none" len="sm" w="sm"/>
            <a:tailEnd type="none" len="sm" w="sm"/>
          </a:ln>
        </p:spPr>
      </p:sp>
      <p:grpSp>
        <p:nvGrpSpPr>
          <p:cNvPr name="Group 4" id="4"/>
          <p:cNvGrpSpPr/>
          <p:nvPr/>
        </p:nvGrpSpPr>
        <p:grpSpPr>
          <a:xfrm rot="0">
            <a:off x="2454188" y="4701099"/>
            <a:ext cx="1402350" cy="1251268"/>
            <a:chOff x="0" y="0"/>
            <a:chExt cx="303114" cy="270459"/>
          </a:xfrm>
        </p:grpSpPr>
        <p:sp>
          <p:nvSpPr>
            <p:cNvPr name="Freeform 5" id="5"/>
            <p:cNvSpPr/>
            <p:nvPr/>
          </p:nvSpPr>
          <p:spPr>
            <a:xfrm flipH="false" flipV="false" rot="0">
              <a:off x="0" y="0"/>
              <a:ext cx="303114" cy="270459"/>
            </a:xfrm>
            <a:custGeom>
              <a:avLst/>
              <a:gdLst/>
              <a:ahLst/>
              <a:cxnLst/>
              <a:rect r="r" b="b" t="t" l="l"/>
              <a:pathLst>
                <a:path h="270459" w="303114">
                  <a:moveTo>
                    <a:pt x="0" y="0"/>
                  </a:moveTo>
                  <a:lnTo>
                    <a:pt x="303114" y="0"/>
                  </a:lnTo>
                  <a:lnTo>
                    <a:pt x="303114" y="270459"/>
                  </a:lnTo>
                  <a:lnTo>
                    <a:pt x="0" y="270459"/>
                  </a:lnTo>
                  <a:close/>
                </a:path>
              </a:pathLst>
            </a:custGeom>
            <a:solidFill>
              <a:srgbClr val="04264A"/>
            </a:solidFill>
          </p:spPr>
        </p:sp>
        <p:sp>
          <p:nvSpPr>
            <p:cNvPr name="TextBox 6" id="6"/>
            <p:cNvSpPr txBox="true"/>
            <p:nvPr/>
          </p:nvSpPr>
          <p:spPr>
            <a:xfrm>
              <a:off x="0" y="0"/>
              <a:ext cx="303114" cy="270459"/>
            </a:xfrm>
            <a:prstGeom prst="rect">
              <a:avLst/>
            </a:prstGeom>
          </p:spPr>
          <p:txBody>
            <a:bodyPr anchor="ctr" rtlCol="false" tIns="50800" lIns="50800" bIns="50800" rIns="50800"/>
            <a:lstStyle/>
            <a:p>
              <a:pPr algn="ctr">
                <a:lnSpc>
                  <a:spcPts val="2196"/>
                </a:lnSpc>
              </a:pPr>
            </a:p>
          </p:txBody>
        </p:sp>
      </p:grpSp>
      <p:grpSp>
        <p:nvGrpSpPr>
          <p:cNvPr name="Group 7" id="7"/>
          <p:cNvGrpSpPr/>
          <p:nvPr/>
        </p:nvGrpSpPr>
        <p:grpSpPr>
          <a:xfrm rot="0">
            <a:off x="8501823" y="4701099"/>
            <a:ext cx="1402350" cy="1251268"/>
            <a:chOff x="0" y="0"/>
            <a:chExt cx="303114" cy="270459"/>
          </a:xfrm>
        </p:grpSpPr>
        <p:sp>
          <p:nvSpPr>
            <p:cNvPr name="Freeform 8" id="8"/>
            <p:cNvSpPr/>
            <p:nvPr/>
          </p:nvSpPr>
          <p:spPr>
            <a:xfrm flipH="false" flipV="false" rot="0">
              <a:off x="0" y="0"/>
              <a:ext cx="303114" cy="270459"/>
            </a:xfrm>
            <a:custGeom>
              <a:avLst/>
              <a:gdLst/>
              <a:ahLst/>
              <a:cxnLst/>
              <a:rect r="r" b="b" t="t" l="l"/>
              <a:pathLst>
                <a:path h="270459" w="303114">
                  <a:moveTo>
                    <a:pt x="0" y="0"/>
                  </a:moveTo>
                  <a:lnTo>
                    <a:pt x="303114" y="0"/>
                  </a:lnTo>
                  <a:lnTo>
                    <a:pt x="303114" y="270459"/>
                  </a:lnTo>
                  <a:lnTo>
                    <a:pt x="0" y="270459"/>
                  </a:lnTo>
                  <a:close/>
                </a:path>
              </a:pathLst>
            </a:custGeom>
            <a:solidFill>
              <a:srgbClr val="04264A"/>
            </a:solidFill>
          </p:spPr>
        </p:sp>
        <p:sp>
          <p:nvSpPr>
            <p:cNvPr name="TextBox 9" id="9"/>
            <p:cNvSpPr txBox="true"/>
            <p:nvPr/>
          </p:nvSpPr>
          <p:spPr>
            <a:xfrm>
              <a:off x="0" y="0"/>
              <a:ext cx="303114" cy="270459"/>
            </a:xfrm>
            <a:prstGeom prst="rect">
              <a:avLst/>
            </a:prstGeom>
          </p:spPr>
          <p:txBody>
            <a:bodyPr anchor="ctr" rtlCol="false" tIns="50800" lIns="50800" bIns="50800" rIns="50800"/>
            <a:lstStyle/>
            <a:p>
              <a:pPr algn="ctr">
                <a:lnSpc>
                  <a:spcPts val="2196"/>
                </a:lnSpc>
              </a:pPr>
            </a:p>
          </p:txBody>
        </p:sp>
      </p:grpSp>
      <p:grpSp>
        <p:nvGrpSpPr>
          <p:cNvPr name="Group 10" id="10"/>
          <p:cNvGrpSpPr/>
          <p:nvPr/>
        </p:nvGrpSpPr>
        <p:grpSpPr>
          <a:xfrm rot="0">
            <a:off x="14431462" y="4701099"/>
            <a:ext cx="1402350" cy="1251268"/>
            <a:chOff x="0" y="0"/>
            <a:chExt cx="303114" cy="270459"/>
          </a:xfrm>
        </p:grpSpPr>
        <p:sp>
          <p:nvSpPr>
            <p:cNvPr name="Freeform 11" id="11"/>
            <p:cNvSpPr/>
            <p:nvPr/>
          </p:nvSpPr>
          <p:spPr>
            <a:xfrm flipH="false" flipV="false" rot="0">
              <a:off x="0" y="0"/>
              <a:ext cx="303114" cy="270459"/>
            </a:xfrm>
            <a:custGeom>
              <a:avLst/>
              <a:gdLst/>
              <a:ahLst/>
              <a:cxnLst/>
              <a:rect r="r" b="b" t="t" l="l"/>
              <a:pathLst>
                <a:path h="270459" w="303114">
                  <a:moveTo>
                    <a:pt x="0" y="0"/>
                  </a:moveTo>
                  <a:lnTo>
                    <a:pt x="303114" y="0"/>
                  </a:lnTo>
                  <a:lnTo>
                    <a:pt x="303114" y="270459"/>
                  </a:lnTo>
                  <a:lnTo>
                    <a:pt x="0" y="270459"/>
                  </a:lnTo>
                  <a:close/>
                </a:path>
              </a:pathLst>
            </a:custGeom>
            <a:solidFill>
              <a:srgbClr val="04264A"/>
            </a:solidFill>
          </p:spPr>
        </p:sp>
        <p:sp>
          <p:nvSpPr>
            <p:cNvPr name="TextBox 12" id="12"/>
            <p:cNvSpPr txBox="true"/>
            <p:nvPr/>
          </p:nvSpPr>
          <p:spPr>
            <a:xfrm>
              <a:off x="0" y="0"/>
              <a:ext cx="303114" cy="270459"/>
            </a:xfrm>
            <a:prstGeom prst="rect">
              <a:avLst/>
            </a:prstGeom>
          </p:spPr>
          <p:txBody>
            <a:bodyPr anchor="ctr" rtlCol="false" tIns="50800" lIns="50800" bIns="50800" rIns="50800"/>
            <a:lstStyle/>
            <a:p>
              <a:pPr algn="ctr">
                <a:lnSpc>
                  <a:spcPts val="2196"/>
                </a:lnSpc>
              </a:pPr>
            </a:p>
          </p:txBody>
        </p:sp>
      </p:grpSp>
      <p:sp>
        <p:nvSpPr>
          <p:cNvPr name="Freeform 13" id="13"/>
          <p:cNvSpPr/>
          <p:nvPr/>
        </p:nvSpPr>
        <p:spPr>
          <a:xfrm flipH="false" flipV="false" rot="0">
            <a:off x="2753422" y="4958928"/>
            <a:ext cx="803882" cy="803882"/>
          </a:xfrm>
          <a:custGeom>
            <a:avLst/>
            <a:gdLst/>
            <a:ahLst/>
            <a:cxnLst/>
            <a:rect r="r" b="b" t="t" l="l"/>
            <a:pathLst>
              <a:path h="803882" w="803882">
                <a:moveTo>
                  <a:pt x="0" y="0"/>
                </a:moveTo>
                <a:lnTo>
                  <a:pt x="803882" y="0"/>
                </a:lnTo>
                <a:lnTo>
                  <a:pt x="803882" y="803882"/>
                </a:lnTo>
                <a:lnTo>
                  <a:pt x="0" y="8038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4684224" y="4924792"/>
            <a:ext cx="896826" cy="803882"/>
          </a:xfrm>
          <a:custGeom>
            <a:avLst/>
            <a:gdLst/>
            <a:ahLst/>
            <a:cxnLst/>
            <a:rect r="r" b="b" t="t" l="l"/>
            <a:pathLst>
              <a:path h="803882" w="896826">
                <a:moveTo>
                  <a:pt x="0" y="0"/>
                </a:moveTo>
                <a:lnTo>
                  <a:pt x="896826" y="0"/>
                </a:lnTo>
                <a:lnTo>
                  <a:pt x="896826" y="803882"/>
                </a:lnTo>
                <a:lnTo>
                  <a:pt x="0" y="8038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286656" y="-237924"/>
            <a:ext cx="18787318" cy="3889809"/>
            <a:chOff x="0" y="0"/>
            <a:chExt cx="2910647" cy="602633"/>
          </a:xfrm>
        </p:grpSpPr>
        <p:sp>
          <p:nvSpPr>
            <p:cNvPr name="Freeform 16" id="16"/>
            <p:cNvSpPr/>
            <p:nvPr/>
          </p:nvSpPr>
          <p:spPr>
            <a:xfrm flipH="false" flipV="false" rot="0">
              <a:off x="0" y="0"/>
              <a:ext cx="2910647" cy="602633"/>
            </a:xfrm>
            <a:custGeom>
              <a:avLst/>
              <a:gdLst/>
              <a:ahLst/>
              <a:cxnLst/>
              <a:rect r="r" b="b" t="t" l="l"/>
              <a:pathLst>
                <a:path h="602633" w="2910647">
                  <a:moveTo>
                    <a:pt x="0" y="0"/>
                  </a:moveTo>
                  <a:lnTo>
                    <a:pt x="2910647" y="0"/>
                  </a:lnTo>
                  <a:lnTo>
                    <a:pt x="2910647" y="602633"/>
                  </a:lnTo>
                  <a:lnTo>
                    <a:pt x="0" y="602633"/>
                  </a:lnTo>
                  <a:close/>
                </a:path>
              </a:pathLst>
            </a:custGeom>
            <a:blipFill>
              <a:blip r:embed="rId6"/>
              <a:stretch>
                <a:fillRect l="0" t="-110996" r="0" b="-110996"/>
              </a:stretch>
            </a:blipFill>
          </p:spPr>
        </p:sp>
      </p:grpSp>
      <p:sp>
        <p:nvSpPr>
          <p:cNvPr name="TextBox 17" id="17"/>
          <p:cNvSpPr txBox="true"/>
          <p:nvPr/>
        </p:nvSpPr>
        <p:spPr>
          <a:xfrm rot="0">
            <a:off x="9236349" y="1656372"/>
            <a:ext cx="7765064" cy="914400"/>
          </a:xfrm>
          <a:prstGeom prst="rect">
            <a:avLst/>
          </a:prstGeom>
        </p:spPr>
        <p:txBody>
          <a:bodyPr anchor="t" rtlCol="false" tIns="0" lIns="0" bIns="0" rIns="0">
            <a:spAutoFit/>
          </a:bodyPr>
          <a:lstStyle/>
          <a:p>
            <a:pPr algn="r" marL="0" indent="0" lvl="0">
              <a:lnSpc>
                <a:spcPts val="7200"/>
              </a:lnSpc>
            </a:pPr>
            <a:r>
              <a:rPr lang="en-US" b="true" sz="6000" spc="179">
                <a:solidFill>
                  <a:srgbClr val="04264A"/>
                </a:solidFill>
                <a:latin typeface="Montserrat Bold"/>
                <a:ea typeface="Montserrat Bold"/>
                <a:cs typeface="Montserrat Bold"/>
                <a:sym typeface="Montserrat Bold"/>
              </a:rPr>
              <a:t>CONCLUSIONES</a:t>
            </a:r>
          </a:p>
        </p:txBody>
      </p:sp>
      <p:sp>
        <p:nvSpPr>
          <p:cNvPr name="Freeform 18" id="18"/>
          <p:cNvSpPr/>
          <p:nvPr/>
        </p:nvSpPr>
        <p:spPr>
          <a:xfrm flipH="false" flipV="false" rot="0">
            <a:off x="8860252" y="4924792"/>
            <a:ext cx="685492" cy="803882"/>
          </a:xfrm>
          <a:custGeom>
            <a:avLst/>
            <a:gdLst/>
            <a:ahLst/>
            <a:cxnLst/>
            <a:rect r="r" b="b" t="t" l="l"/>
            <a:pathLst>
              <a:path h="803882" w="685492">
                <a:moveTo>
                  <a:pt x="0" y="0"/>
                </a:moveTo>
                <a:lnTo>
                  <a:pt x="685492" y="0"/>
                </a:lnTo>
                <a:lnTo>
                  <a:pt x="685492" y="803882"/>
                </a:lnTo>
                <a:lnTo>
                  <a:pt x="0" y="8038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9" id="19"/>
          <p:cNvSpPr txBox="true"/>
          <p:nvPr/>
        </p:nvSpPr>
        <p:spPr>
          <a:xfrm rot="0">
            <a:off x="7057132" y="6299507"/>
            <a:ext cx="4099742" cy="2291720"/>
          </a:xfrm>
          <a:prstGeom prst="rect">
            <a:avLst/>
          </a:prstGeom>
        </p:spPr>
        <p:txBody>
          <a:bodyPr anchor="t" rtlCol="false" tIns="0" lIns="0" bIns="0" rIns="0">
            <a:spAutoFit/>
          </a:bodyPr>
          <a:lstStyle/>
          <a:p>
            <a:pPr algn="just">
              <a:lnSpc>
                <a:spcPts val="1827"/>
              </a:lnSpc>
            </a:pPr>
            <a:r>
              <a:rPr lang="en-US" sz="1498">
                <a:solidFill>
                  <a:srgbClr val="04264A"/>
                </a:solidFill>
                <a:latin typeface="Montserrat"/>
                <a:ea typeface="Montserrat"/>
                <a:cs typeface="Montserrat"/>
                <a:sym typeface="Montserrat"/>
              </a:rPr>
              <a:t>El café especial es el producto más importante en términos de rentabilidad, al generar la mayor utilidad con US$62,832. Este resultado muestra que el café especial constituye una de las principales fortalezas comerciales de la empresa y representa una oportunidad para continuar impulsando su participación en mercados internacionales.</a:t>
            </a:r>
          </a:p>
          <a:p>
            <a:pPr algn="just">
              <a:lnSpc>
                <a:spcPts val="1827"/>
              </a:lnSpc>
            </a:pPr>
          </a:p>
        </p:txBody>
      </p:sp>
      <p:sp>
        <p:nvSpPr>
          <p:cNvPr name="TextBox 20" id="20"/>
          <p:cNvSpPr txBox="true"/>
          <p:nvPr/>
        </p:nvSpPr>
        <p:spPr>
          <a:xfrm rot="0">
            <a:off x="1105492" y="6422875"/>
            <a:ext cx="4099742" cy="2291720"/>
          </a:xfrm>
          <a:prstGeom prst="rect">
            <a:avLst/>
          </a:prstGeom>
        </p:spPr>
        <p:txBody>
          <a:bodyPr anchor="t" rtlCol="false" tIns="0" lIns="0" bIns="0" rIns="0">
            <a:spAutoFit/>
          </a:bodyPr>
          <a:lstStyle/>
          <a:p>
            <a:pPr algn="just">
              <a:lnSpc>
                <a:spcPts val="1827"/>
              </a:lnSpc>
            </a:pPr>
            <a:r>
              <a:rPr lang="en-US" sz="1498">
                <a:solidFill>
                  <a:srgbClr val="04264A"/>
                </a:solidFill>
                <a:latin typeface="Montserrat"/>
                <a:ea typeface="Montserrat"/>
                <a:cs typeface="Montserrat"/>
                <a:sym typeface="Montserrat"/>
              </a:rPr>
              <a:t>Estados Unidos se posiciona como el principal mercado de NicaExport Trading, S.A., al generar el mayor valor FOB con US$168,745. Además, Norteamérica representa la región con mayor participación en las exportaciones, alcanzando US$289,058, lo que demuestra la importancia de este mercado para las operaciones de la empresa.</a:t>
            </a:r>
          </a:p>
          <a:p>
            <a:pPr algn="just" marL="0" indent="0" lvl="0">
              <a:lnSpc>
                <a:spcPts val="1827"/>
              </a:lnSpc>
              <a:spcBef>
                <a:spcPct val="0"/>
              </a:spcBef>
            </a:pPr>
          </a:p>
        </p:txBody>
      </p:sp>
      <p:sp>
        <p:nvSpPr>
          <p:cNvPr name="TextBox 21" id="21"/>
          <p:cNvSpPr txBox="true"/>
          <p:nvPr/>
        </p:nvSpPr>
        <p:spPr>
          <a:xfrm rot="0">
            <a:off x="13115037" y="6387247"/>
            <a:ext cx="4035201" cy="2406080"/>
          </a:xfrm>
          <a:prstGeom prst="rect">
            <a:avLst/>
          </a:prstGeom>
        </p:spPr>
        <p:txBody>
          <a:bodyPr anchor="t" rtlCol="false" tIns="0" lIns="0" bIns="0" rIns="0">
            <a:spAutoFit/>
          </a:bodyPr>
          <a:lstStyle/>
          <a:p>
            <a:pPr algn="just">
              <a:lnSpc>
                <a:spcPts val="1798"/>
              </a:lnSpc>
            </a:pPr>
            <a:r>
              <a:rPr lang="en-US" sz="1474">
                <a:solidFill>
                  <a:srgbClr val="04264A"/>
                </a:solidFill>
                <a:latin typeface="Montserrat"/>
                <a:ea typeface="Montserrat"/>
                <a:cs typeface="Montserrat"/>
                <a:sym typeface="Montserrat"/>
              </a:rPr>
              <a:t>La empresa presenta un desempeño favorable, pero aún existen operaciones que requieren seguimiento. De las 100 operaciones analizadas, 82 presentan rentabilidad alta, mientras que 48 tienen prioridad comercial alta; sin embargo, 15 operaciones se encuentran pendientes, por lo que es necesario darles seguimiento para evitar retrasos y aprovechar de mejor manera las oportunidades comerciales.</a:t>
            </a:r>
          </a:p>
          <a:p>
            <a:pPr algn="just" marL="0" indent="0" lvl="0">
              <a:lnSpc>
                <a:spcPts val="1798"/>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6656" y="-237924"/>
            <a:ext cx="18787318" cy="6054188"/>
            <a:chOff x="0" y="0"/>
            <a:chExt cx="2910647" cy="937952"/>
          </a:xfrm>
        </p:grpSpPr>
        <p:sp>
          <p:nvSpPr>
            <p:cNvPr name="Freeform 3" id="3"/>
            <p:cNvSpPr/>
            <p:nvPr/>
          </p:nvSpPr>
          <p:spPr>
            <a:xfrm flipH="false" flipV="false" rot="0">
              <a:off x="0" y="0"/>
              <a:ext cx="2910647" cy="937952"/>
            </a:xfrm>
            <a:custGeom>
              <a:avLst/>
              <a:gdLst/>
              <a:ahLst/>
              <a:cxnLst/>
              <a:rect r="r" b="b" t="t" l="l"/>
              <a:pathLst>
                <a:path h="937952" w="2910647">
                  <a:moveTo>
                    <a:pt x="0" y="0"/>
                  </a:moveTo>
                  <a:lnTo>
                    <a:pt x="2910647" y="0"/>
                  </a:lnTo>
                  <a:lnTo>
                    <a:pt x="2910647" y="937952"/>
                  </a:lnTo>
                  <a:lnTo>
                    <a:pt x="0" y="937952"/>
                  </a:lnTo>
                  <a:close/>
                </a:path>
              </a:pathLst>
            </a:custGeom>
            <a:blipFill>
              <a:blip r:embed="rId2"/>
              <a:stretch>
                <a:fillRect l="0" t="-53278" r="0" b="-53278"/>
              </a:stretch>
            </a:blipFill>
          </p:spPr>
        </p:sp>
      </p:grpSp>
      <p:sp>
        <p:nvSpPr>
          <p:cNvPr name="TextBox 4" id="4"/>
          <p:cNvSpPr txBox="true"/>
          <p:nvPr/>
        </p:nvSpPr>
        <p:spPr>
          <a:xfrm rot="0">
            <a:off x="1205013" y="1364974"/>
            <a:ext cx="7901990" cy="785474"/>
          </a:xfrm>
          <a:prstGeom prst="rect">
            <a:avLst/>
          </a:prstGeom>
        </p:spPr>
        <p:txBody>
          <a:bodyPr anchor="t" rtlCol="false" tIns="0" lIns="0" bIns="0" rIns="0">
            <a:spAutoFit/>
          </a:bodyPr>
          <a:lstStyle/>
          <a:p>
            <a:pPr algn="l" marL="0" indent="0" lvl="0">
              <a:lnSpc>
                <a:spcPts val="6259"/>
              </a:lnSpc>
            </a:pPr>
            <a:r>
              <a:rPr lang="en-US" b="true" sz="5216" spc="156">
                <a:solidFill>
                  <a:srgbClr val="04264A"/>
                </a:solidFill>
                <a:latin typeface="Montserrat Bold"/>
                <a:ea typeface="Montserrat Bold"/>
                <a:cs typeface="Montserrat Bold"/>
                <a:sym typeface="Montserrat Bold"/>
              </a:rPr>
              <a:t>RECOMENDACIONES</a:t>
            </a:r>
          </a:p>
        </p:txBody>
      </p:sp>
      <p:grpSp>
        <p:nvGrpSpPr>
          <p:cNvPr name="Group 5" id="5"/>
          <p:cNvGrpSpPr/>
          <p:nvPr/>
        </p:nvGrpSpPr>
        <p:grpSpPr>
          <a:xfrm rot="0">
            <a:off x="9766547" y="1028700"/>
            <a:ext cx="7492753" cy="3509035"/>
            <a:chOff x="0" y="0"/>
            <a:chExt cx="1973400" cy="924190"/>
          </a:xfrm>
        </p:grpSpPr>
        <p:sp>
          <p:nvSpPr>
            <p:cNvPr name="Freeform 6" id="6"/>
            <p:cNvSpPr/>
            <p:nvPr/>
          </p:nvSpPr>
          <p:spPr>
            <a:xfrm flipH="false" flipV="false" rot="0">
              <a:off x="0" y="0"/>
              <a:ext cx="1973400" cy="924190"/>
            </a:xfrm>
            <a:custGeom>
              <a:avLst/>
              <a:gdLst/>
              <a:ahLst/>
              <a:cxnLst/>
              <a:rect r="r" b="b" t="t" l="l"/>
              <a:pathLst>
                <a:path h="924190" w="1973400">
                  <a:moveTo>
                    <a:pt x="0" y="0"/>
                  </a:moveTo>
                  <a:lnTo>
                    <a:pt x="1973400" y="0"/>
                  </a:lnTo>
                  <a:lnTo>
                    <a:pt x="1973400" y="924190"/>
                  </a:lnTo>
                  <a:lnTo>
                    <a:pt x="0" y="924190"/>
                  </a:lnTo>
                  <a:close/>
                </a:path>
              </a:pathLst>
            </a:custGeom>
            <a:solidFill>
              <a:srgbClr val="FFFFFF"/>
            </a:solidFill>
          </p:spPr>
        </p:sp>
        <p:sp>
          <p:nvSpPr>
            <p:cNvPr name="TextBox 7" id="7"/>
            <p:cNvSpPr txBox="true"/>
            <p:nvPr/>
          </p:nvSpPr>
          <p:spPr>
            <a:xfrm>
              <a:off x="0" y="0"/>
              <a:ext cx="1973400" cy="924190"/>
            </a:xfrm>
            <a:prstGeom prst="rect">
              <a:avLst/>
            </a:prstGeom>
          </p:spPr>
          <p:txBody>
            <a:bodyPr anchor="t" rtlCol="false" tIns="254000" lIns="254000" bIns="254000" rIns="254000"/>
            <a:lstStyle/>
            <a:p>
              <a:pPr algn="l" marL="604516" indent="-302258" lvl="1">
                <a:lnSpc>
                  <a:spcPts val="3415"/>
                </a:lnSpc>
                <a:buAutoNum type="arabicPeriod" startAt="1"/>
              </a:pPr>
              <a:r>
                <a:rPr lang="en-US" b="true" sz="2799">
                  <a:solidFill>
                    <a:srgbClr val="04264A"/>
                  </a:solidFill>
                  <a:latin typeface="Montserrat Bold"/>
                  <a:ea typeface="Montserrat Bold"/>
                  <a:cs typeface="Montserrat Bold"/>
                  <a:sym typeface="Montserrat Bold"/>
                </a:rPr>
                <a:t>Fortalecer la promoción del café especial en Estados Unidos, </a:t>
              </a:r>
              <a:r>
                <a:rPr lang="en-US" sz="2799">
                  <a:solidFill>
                    <a:srgbClr val="04264A"/>
                  </a:solidFill>
                  <a:latin typeface="Montserrat"/>
                  <a:ea typeface="Montserrat"/>
                  <a:cs typeface="Montserrat"/>
                  <a:sym typeface="Montserrat"/>
                </a:rPr>
                <a:t>aprovechando que es el producto con mayor utilidad y que Estados Unidos es el mercado con mayor valor FOB.</a:t>
              </a:r>
            </a:p>
            <a:p>
              <a:pPr algn="l">
                <a:lnSpc>
                  <a:spcPts val="3415"/>
                </a:lnSpc>
              </a:pPr>
            </a:p>
          </p:txBody>
        </p:sp>
      </p:grpSp>
      <p:grpSp>
        <p:nvGrpSpPr>
          <p:cNvPr name="Group 8" id="8"/>
          <p:cNvGrpSpPr/>
          <p:nvPr/>
        </p:nvGrpSpPr>
        <p:grpSpPr>
          <a:xfrm rot="0">
            <a:off x="1205013" y="7046834"/>
            <a:ext cx="7066241" cy="2300986"/>
            <a:chOff x="0" y="0"/>
            <a:chExt cx="1861068" cy="606021"/>
          </a:xfrm>
        </p:grpSpPr>
        <p:sp>
          <p:nvSpPr>
            <p:cNvPr name="Freeform 9" id="9"/>
            <p:cNvSpPr/>
            <p:nvPr/>
          </p:nvSpPr>
          <p:spPr>
            <a:xfrm flipH="false" flipV="false" rot="0">
              <a:off x="0" y="0"/>
              <a:ext cx="1861068" cy="606021"/>
            </a:xfrm>
            <a:custGeom>
              <a:avLst/>
              <a:gdLst/>
              <a:ahLst/>
              <a:cxnLst/>
              <a:rect r="r" b="b" t="t" l="l"/>
              <a:pathLst>
                <a:path h="606021" w="1861068">
                  <a:moveTo>
                    <a:pt x="0" y="0"/>
                  </a:moveTo>
                  <a:lnTo>
                    <a:pt x="1861068" y="0"/>
                  </a:lnTo>
                  <a:lnTo>
                    <a:pt x="1861068" y="606021"/>
                  </a:lnTo>
                  <a:lnTo>
                    <a:pt x="0" y="606021"/>
                  </a:lnTo>
                  <a:close/>
                </a:path>
              </a:pathLst>
            </a:custGeom>
            <a:solidFill>
              <a:srgbClr val="E4E4E4"/>
            </a:solidFill>
          </p:spPr>
        </p:sp>
        <p:sp>
          <p:nvSpPr>
            <p:cNvPr name="TextBox 10" id="10"/>
            <p:cNvSpPr txBox="true"/>
            <p:nvPr/>
          </p:nvSpPr>
          <p:spPr>
            <a:xfrm>
              <a:off x="0" y="0"/>
              <a:ext cx="1861068" cy="606021"/>
            </a:xfrm>
            <a:prstGeom prst="rect">
              <a:avLst/>
            </a:prstGeom>
          </p:spPr>
          <p:txBody>
            <a:bodyPr anchor="t" rtlCol="false" tIns="254000" lIns="254000" bIns="254000" rIns="254000"/>
            <a:lstStyle/>
            <a:p>
              <a:pPr algn="just">
                <a:lnSpc>
                  <a:spcPts val="2440"/>
                </a:lnSpc>
              </a:pPr>
            </a:p>
            <a:p>
              <a:pPr algn="just">
                <a:lnSpc>
                  <a:spcPts val="2440"/>
                </a:lnSpc>
              </a:pPr>
            </a:p>
            <a:p>
              <a:pPr algn="just">
                <a:lnSpc>
                  <a:spcPts val="2440"/>
                </a:lnSpc>
              </a:pPr>
              <a:r>
                <a:rPr lang="en-US" sz="2000">
                  <a:solidFill>
                    <a:srgbClr val="04264A"/>
                  </a:solidFill>
                  <a:latin typeface="Montserrat"/>
                  <a:ea typeface="Montserrat"/>
                  <a:cs typeface="Montserrat"/>
                  <a:sym typeface="Montserrat"/>
                </a:rPr>
                <a:t>Dar seguimiento prioritario a las 15 operaciones pendientes, para agilizar su cierre y evitar posibles retrasos en los resultados de la empresa.</a:t>
              </a:r>
            </a:p>
          </p:txBody>
        </p:sp>
      </p:grpSp>
      <p:grpSp>
        <p:nvGrpSpPr>
          <p:cNvPr name="Group 11" id="11"/>
          <p:cNvGrpSpPr/>
          <p:nvPr/>
        </p:nvGrpSpPr>
        <p:grpSpPr>
          <a:xfrm rot="0">
            <a:off x="3964860" y="6004801"/>
            <a:ext cx="1546547" cy="1567638"/>
            <a:chOff x="0" y="0"/>
            <a:chExt cx="1052417" cy="1066770"/>
          </a:xfrm>
        </p:grpSpPr>
        <p:sp>
          <p:nvSpPr>
            <p:cNvPr name="Freeform 12" id="12"/>
            <p:cNvSpPr/>
            <p:nvPr/>
          </p:nvSpPr>
          <p:spPr>
            <a:xfrm flipH="false" flipV="false" rot="0">
              <a:off x="0" y="0"/>
              <a:ext cx="1052417" cy="1066770"/>
            </a:xfrm>
            <a:custGeom>
              <a:avLst/>
              <a:gdLst/>
              <a:ahLst/>
              <a:cxnLst/>
              <a:rect r="r" b="b" t="t" l="l"/>
              <a:pathLst>
                <a:path h="1066770" w="1052417">
                  <a:moveTo>
                    <a:pt x="526209" y="0"/>
                  </a:moveTo>
                  <a:cubicBezTo>
                    <a:pt x="235592" y="0"/>
                    <a:pt x="0" y="238804"/>
                    <a:pt x="0" y="533385"/>
                  </a:cubicBezTo>
                  <a:cubicBezTo>
                    <a:pt x="0" y="827965"/>
                    <a:pt x="235592" y="1066770"/>
                    <a:pt x="526209" y="1066770"/>
                  </a:cubicBezTo>
                  <a:cubicBezTo>
                    <a:pt x="816826" y="1066770"/>
                    <a:pt x="1052417" y="827965"/>
                    <a:pt x="1052417" y="533385"/>
                  </a:cubicBezTo>
                  <a:cubicBezTo>
                    <a:pt x="1052417" y="238804"/>
                    <a:pt x="816826" y="0"/>
                    <a:pt x="526209" y="0"/>
                  </a:cubicBezTo>
                  <a:close/>
                </a:path>
              </a:pathLst>
            </a:custGeom>
            <a:solidFill>
              <a:srgbClr val="04264A"/>
            </a:solidFill>
            <a:ln cap="sq">
              <a:noFill/>
              <a:prstDash val="solid"/>
              <a:miter/>
            </a:ln>
          </p:spPr>
        </p:sp>
        <p:sp>
          <p:nvSpPr>
            <p:cNvPr name="TextBox 13" id="13"/>
            <p:cNvSpPr txBox="true"/>
            <p:nvPr/>
          </p:nvSpPr>
          <p:spPr>
            <a:xfrm>
              <a:off x="98664" y="90485"/>
              <a:ext cx="855089" cy="876275"/>
            </a:xfrm>
            <a:prstGeom prst="rect">
              <a:avLst/>
            </a:prstGeom>
          </p:spPr>
          <p:txBody>
            <a:bodyPr anchor="ctr" rtlCol="false" tIns="50800" lIns="50800" bIns="50800" rIns="50800"/>
            <a:lstStyle/>
            <a:p>
              <a:pPr algn="ctr" marL="0" indent="0" lvl="0">
                <a:lnSpc>
                  <a:spcPts val="7319"/>
                </a:lnSpc>
                <a:spcBef>
                  <a:spcPct val="0"/>
                </a:spcBef>
              </a:pPr>
              <a:r>
                <a:rPr lang="en-US" b="true" sz="5999" u="none">
                  <a:solidFill>
                    <a:srgbClr val="FFFFFF"/>
                  </a:solidFill>
                  <a:latin typeface="Montserrat Bold"/>
                  <a:ea typeface="Montserrat Bold"/>
                  <a:cs typeface="Montserrat Bold"/>
                  <a:sym typeface="Montserrat Bold"/>
                </a:rPr>
                <a:t>2</a:t>
              </a:r>
            </a:p>
          </p:txBody>
        </p:sp>
      </p:grpSp>
      <p:grpSp>
        <p:nvGrpSpPr>
          <p:cNvPr name="Group 14" id="14"/>
          <p:cNvGrpSpPr/>
          <p:nvPr/>
        </p:nvGrpSpPr>
        <p:grpSpPr>
          <a:xfrm rot="0">
            <a:off x="9766547" y="7046834"/>
            <a:ext cx="6922914" cy="2300986"/>
            <a:chOff x="0" y="0"/>
            <a:chExt cx="1823319" cy="606021"/>
          </a:xfrm>
        </p:grpSpPr>
        <p:sp>
          <p:nvSpPr>
            <p:cNvPr name="Freeform 15" id="15"/>
            <p:cNvSpPr/>
            <p:nvPr/>
          </p:nvSpPr>
          <p:spPr>
            <a:xfrm flipH="false" flipV="false" rot="0">
              <a:off x="0" y="0"/>
              <a:ext cx="1823319" cy="606021"/>
            </a:xfrm>
            <a:custGeom>
              <a:avLst/>
              <a:gdLst/>
              <a:ahLst/>
              <a:cxnLst/>
              <a:rect r="r" b="b" t="t" l="l"/>
              <a:pathLst>
                <a:path h="606021" w="1823319">
                  <a:moveTo>
                    <a:pt x="0" y="0"/>
                  </a:moveTo>
                  <a:lnTo>
                    <a:pt x="1823319" y="0"/>
                  </a:lnTo>
                  <a:lnTo>
                    <a:pt x="1823319" y="606021"/>
                  </a:lnTo>
                  <a:lnTo>
                    <a:pt x="0" y="606021"/>
                  </a:lnTo>
                  <a:close/>
                </a:path>
              </a:pathLst>
            </a:custGeom>
            <a:solidFill>
              <a:srgbClr val="E4E4E4"/>
            </a:solidFill>
          </p:spPr>
        </p:sp>
        <p:sp>
          <p:nvSpPr>
            <p:cNvPr name="TextBox 16" id="16"/>
            <p:cNvSpPr txBox="true"/>
            <p:nvPr/>
          </p:nvSpPr>
          <p:spPr>
            <a:xfrm>
              <a:off x="0" y="0"/>
              <a:ext cx="1823319" cy="606021"/>
            </a:xfrm>
            <a:prstGeom prst="rect">
              <a:avLst/>
            </a:prstGeom>
          </p:spPr>
          <p:txBody>
            <a:bodyPr anchor="t" rtlCol="false" tIns="254000" lIns="254000" bIns="254000" rIns="254000"/>
            <a:lstStyle/>
            <a:p>
              <a:pPr algn="just">
                <a:lnSpc>
                  <a:spcPts val="2440"/>
                </a:lnSpc>
              </a:pPr>
            </a:p>
            <a:p>
              <a:pPr algn="just">
                <a:lnSpc>
                  <a:spcPts val="2440"/>
                </a:lnSpc>
              </a:pPr>
            </a:p>
            <a:p>
              <a:pPr algn="just">
                <a:lnSpc>
                  <a:spcPts val="2440"/>
                </a:lnSpc>
              </a:pPr>
              <a:r>
                <a:rPr lang="en-US" sz="2000">
                  <a:solidFill>
                    <a:srgbClr val="04264A"/>
                  </a:solidFill>
                  <a:latin typeface="Montserrat"/>
                  <a:ea typeface="Montserrat"/>
                  <a:cs typeface="Montserrat"/>
                  <a:sym typeface="Montserrat"/>
                </a:rPr>
                <a:t>Mantener el enfoque comercial en Norteamérica y fortalecer la presencia en Centroamérica, considerando que generan valores FOB de US$289,058 y US$232,879, respectivamente.</a:t>
              </a:r>
            </a:p>
          </p:txBody>
        </p:sp>
      </p:grpSp>
      <p:grpSp>
        <p:nvGrpSpPr>
          <p:cNvPr name="Group 17" id="17"/>
          <p:cNvGrpSpPr/>
          <p:nvPr/>
        </p:nvGrpSpPr>
        <p:grpSpPr>
          <a:xfrm rot="0">
            <a:off x="12454730" y="6004801"/>
            <a:ext cx="1546547" cy="1567638"/>
            <a:chOff x="0" y="0"/>
            <a:chExt cx="1052417" cy="1066770"/>
          </a:xfrm>
        </p:grpSpPr>
        <p:sp>
          <p:nvSpPr>
            <p:cNvPr name="Freeform 18" id="18"/>
            <p:cNvSpPr/>
            <p:nvPr/>
          </p:nvSpPr>
          <p:spPr>
            <a:xfrm flipH="false" flipV="false" rot="0">
              <a:off x="0" y="0"/>
              <a:ext cx="1052417" cy="1066770"/>
            </a:xfrm>
            <a:custGeom>
              <a:avLst/>
              <a:gdLst/>
              <a:ahLst/>
              <a:cxnLst/>
              <a:rect r="r" b="b" t="t" l="l"/>
              <a:pathLst>
                <a:path h="1066770" w="1052417">
                  <a:moveTo>
                    <a:pt x="526209" y="0"/>
                  </a:moveTo>
                  <a:cubicBezTo>
                    <a:pt x="235592" y="0"/>
                    <a:pt x="0" y="238804"/>
                    <a:pt x="0" y="533385"/>
                  </a:cubicBezTo>
                  <a:cubicBezTo>
                    <a:pt x="0" y="827965"/>
                    <a:pt x="235592" y="1066770"/>
                    <a:pt x="526209" y="1066770"/>
                  </a:cubicBezTo>
                  <a:cubicBezTo>
                    <a:pt x="816826" y="1066770"/>
                    <a:pt x="1052417" y="827965"/>
                    <a:pt x="1052417" y="533385"/>
                  </a:cubicBezTo>
                  <a:cubicBezTo>
                    <a:pt x="1052417" y="238804"/>
                    <a:pt x="816826" y="0"/>
                    <a:pt x="526209" y="0"/>
                  </a:cubicBezTo>
                  <a:close/>
                </a:path>
              </a:pathLst>
            </a:custGeom>
            <a:solidFill>
              <a:srgbClr val="04264A"/>
            </a:solidFill>
          </p:spPr>
        </p:sp>
        <p:sp>
          <p:nvSpPr>
            <p:cNvPr name="TextBox 19" id="19"/>
            <p:cNvSpPr txBox="true"/>
            <p:nvPr/>
          </p:nvSpPr>
          <p:spPr>
            <a:xfrm>
              <a:off x="98664" y="90485"/>
              <a:ext cx="855089" cy="876275"/>
            </a:xfrm>
            <a:prstGeom prst="rect">
              <a:avLst/>
            </a:prstGeom>
          </p:spPr>
          <p:txBody>
            <a:bodyPr anchor="ctr" rtlCol="false" tIns="50800" lIns="50800" bIns="50800" rIns="50800"/>
            <a:lstStyle/>
            <a:p>
              <a:pPr algn="ctr">
                <a:lnSpc>
                  <a:spcPts val="7319"/>
                </a:lnSpc>
              </a:pPr>
              <a:r>
                <a:rPr lang="en-US" b="true" sz="5999">
                  <a:solidFill>
                    <a:srgbClr val="FFFFFF"/>
                  </a:solidFill>
                  <a:latin typeface="Montserrat Bold"/>
                  <a:ea typeface="Montserrat Bold"/>
                  <a:cs typeface="Montserrat Bold"/>
                  <a:sym typeface="Montserrat Bold"/>
                </a:rPr>
                <a:t>3</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33333"/>
            </a:stretch>
          </a:blipFill>
        </p:spPr>
      </p:sp>
      <p:sp>
        <p:nvSpPr>
          <p:cNvPr name="TextBox 3" id="3"/>
          <p:cNvSpPr txBox="true"/>
          <p:nvPr/>
        </p:nvSpPr>
        <p:spPr>
          <a:xfrm rot="0">
            <a:off x="2309586" y="3191203"/>
            <a:ext cx="15346442" cy="4373227"/>
          </a:xfrm>
          <a:prstGeom prst="rect">
            <a:avLst/>
          </a:prstGeom>
        </p:spPr>
        <p:txBody>
          <a:bodyPr anchor="t" rtlCol="false" tIns="0" lIns="0" bIns="0" rIns="0">
            <a:spAutoFit/>
          </a:bodyPr>
          <a:lstStyle/>
          <a:p>
            <a:pPr algn="l" marL="0" indent="0" lvl="0">
              <a:lnSpc>
                <a:spcPts val="17289"/>
              </a:lnSpc>
            </a:pPr>
            <a:r>
              <a:rPr lang="en-US" b="true" sz="14407" spc="432">
                <a:solidFill>
                  <a:srgbClr val="04264A"/>
                </a:solidFill>
                <a:latin typeface="Montserrat Bold"/>
                <a:ea typeface="Montserrat Bold"/>
                <a:cs typeface="Montserrat Bold"/>
                <a:sym typeface="Montserrat Bold"/>
              </a:rPr>
              <a:t>MUCHAS GRACIAS</a:t>
            </a:r>
          </a:p>
        </p:txBody>
      </p:sp>
      <p:sp>
        <p:nvSpPr>
          <p:cNvPr name="TextBox 4" id="4"/>
          <p:cNvSpPr txBox="true"/>
          <p:nvPr/>
        </p:nvSpPr>
        <p:spPr>
          <a:xfrm rot="-5400000">
            <a:off x="-2628153" y="6065487"/>
            <a:ext cx="6076622" cy="309003"/>
          </a:xfrm>
          <a:prstGeom prst="rect">
            <a:avLst/>
          </a:prstGeom>
        </p:spPr>
        <p:txBody>
          <a:bodyPr anchor="t" rtlCol="false" tIns="0" lIns="0" bIns="0" rIns="0">
            <a:spAutoFit/>
          </a:bodyPr>
          <a:lstStyle/>
          <a:p>
            <a:pPr algn="l" marL="0" indent="0" lvl="0">
              <a:lnSpc>
                <a:spcPts val="2543"/>
              </a:lnSpc>
            </a:pPr>
            <a:r>
              <a:rPr lang="en-US" sz="2084">
                <a:solidFill>
                  <a:srgbClr val="04264A"/>
                </a:solidFill>
                <a:latin typeface="Montserrat"/>
                <a:ea typeface="Montserrat"/>
                <a:cs typeface="Montserrat"/>
                <a:sym typeface="Montserrat"/>
              </a:rPr>
              <a:t>www.unsitiogenial.es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DAHURlBDwbs</dc:identifier>
  <dcterms:modified xsi:type="dcterms:W3CDTF">2011-08-01T06:04:30Z</dcterms:modified>
  <cp:revision>1</cp:revision>
  <dc:title>Presentación NicaExport </dc:title>
</cp:coreProperties>
</file>